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Open Sauce Heavy" charset="1" panose="00000A00000000000000"/>
      <p:regular r:id="rId18"/>
    </p:embeddedFont>
    <p:embeddedFont>
      <p:font typeface="Canva Sans 1" charset="1" panose="020B0503030501040103"/>
      <p:regular r:id="rId19"/>
    </p:embeddedFont>
    <p:embeddedFont>
      <p:font typeface="Canva Sans 2" charset="1" panose="020B0503030501040103"/>
      <p:regular r:id="rId20"/>
    </p:embeddedFont>
    <p:embeddedFont>
      <p:font typeface="Canva Sans 2 Bold" charset="1" panose="020B0803030501040103"/>
      <p:regular r:id="rId21"/>
    </p:embeddedFont>
    <p:embeddedFont>
      <p:font typeface="Open Sauce" charset="1" panose="00000500000000000000"/>
      <p:regular r:id="rId22"/>
    </p:embeddedFont>
    <p:embeddedFont>
      <p:font typeface="Open Sauce Bold" charset="1" panose="00000800000000000000"/>
      <p:regular r:id="rId23"/>
    </p:embeddedFont>
    <p:embeddedFont>
      <p:font typeface="Canva Sans 1 Bold" charset="1" panose="020B0803030501040103"/>
      <p:regular r:id="rId24"/>
    </p:embeddedFont>
    <p:embeddedFont>
      <p:font typeface="Poppins Bold" charset="1" panose="00000800000000000000"/>
      <p:regular r:id="rId25"/>
    </p:embeddedFont>
    <p:embeddedFont>
      <p:font typeface="Norwester" charset="1" panose="00000506000000000000"/>
      <p:regular r:id="rId26"/>
    </p:embeddedFont>
    <p:embeddedFont>
      <p:font typeface="Open Sauce Light" charset="1" panose="0000040000000000000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7.png" Type="http://schemas.openxmlformats.org/officeDocument/2006/relationships/image"/><Relationship Id="rId4" Target="../media/image8.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jpeg" Type="http://schemas.openxmlformats.org/officeDocument/2006/relationships/image"/><Relationship Id="rId11" Target="../media/image22.pn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15.png" Type="http://schemas.openxmlformats.org/officeDocument/2006/relationships/image"/><Relationship Id="rId5" Target="../media/image16.png" Type="http://schemas.openxmlformats.org/officeDocument/2006/relationships/image"/><Relationship Id="rId6" Target="../media/image17.jpeg" Type="http://schemas.openxmlformats.org/officeDocument/2006/relationships/image"/><Relationship Id="rId7" Target="../media/image18.png" Type="http://schemas.openxmlformats.org/officeDocument/2006/relationships/image"/><Relationship Id="rId8" Target="../media/image19.png" Type="http://schemas.openxmlformats.org/officeDocument/2006/relationships/image"/><Relationship Id="rId9" Target="../media/image20.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D0D7DD"/>
        </a:solidFill>
      </p:bgPr>
    </p:bg>
    <p:spTree>
      <p:nvGrpSpPr>
        <p:cNvPr id="1" name=""/>
        <p:cNvGrpSpPr/>
        <p:nvPr/>
      </p:nvGrpSpPr>
      <p:grpSpPr>
        <a:xfrm>
          <a:off x="0" y="0"/>
          <a:ext cx="0" cy="0"/>
          <a:chOff x="0" y="0"/>
          <a:chExt cx="0" cy="0"/>
        </a:xfrm>
      </p:grpSpPr>
      <p:sp>
        <p:nvSpPr>
          <p:cNvPr name="Freeform 2" id="2"/>
          <p:cNvSpPr/>
          <p:nvPr/>
        </p:nvSpPr>
        <p:spPr>
          <a:xfrm flipH="false" flipV="false" rot="-1977201">
            <a:off x="8302125" y="-801031"/>
            <a:ext cx="12791303" cy="9442307"/>
          </a:xfrm>
          <a:custGeom>
            <a:avLst/>
            <a:gdLst/>
            <a:ahLst/>
            <a:cxnLst/>
            <a:rect r="r" b="b" t="t" l="l"/>
            <a:pathLst>
              <a:path h="9442307" w="12791303">
                <a:moveTo>
                  <a:pt x="0" y="0"/>
                </a:moveTo>
                <a:lnTo>
                  <a:pt x="12791302" y="0"/>
                </a:lnTo>
                <a:lnTo>
                  <a:pt x="12791302" y="9442307"/>
                </a:lnTo>
                <a:lnTo>
                  <a:pt x="0" y="9442307"/>
                </a:lnTo>
                <a:lnTo>
                  <a:pt x="0" y="0"/>
                </a:lnTo>
                <a:close/>
              </a:path>
            </a:pathLst>
          </a:custGeom>
          <a:blipFill>
            <a:blip r:embed="rId2">
              <a:alphaModFix amt="42000"/>
            </a:blip>
            <a:stretch>
              <a:fillRect l="0" t="0" r="0" b="0"/>
            </a:stretch>
          </a:blipFill>
        </p:spPr>
      </p:sp>
      <p:sp>
        <p:nvSpPr>
          <p:cNvPr name="Freeform 3" id="3"/>
          <p:cNvSpPr/>
          <p:nvPr/>
        </p:nvSpPr>
        <p:spPr>
          <a:xfrm flipH="false" flipV="false" rot="-10659522">
            <a:off x="-1466084" y="-1104127"/>
            <a:ext cx="6017764" cy="3599717"/>
          </a:xfrm>
          <a:custGeom>
            <a:avLst/>
            <a:gdLst/>
            <a:ahLst/>
            <a:cxnLst/>
            <a:rect r="r" b="b" t="t" l="l"/>
            <a:pathLst>
              <a:path h="3599717" w="6017764">
                <a:moveTo>
                  <a:pt x="0" y="0"/>
                </a:moveTo>
                <a:lnTo>
                  <a:pt x="6017764" y="0"/>
                </a:lnTo>
                <a:lnTo>
                  <a:pt x="6017764" y="3599717"/>
                </a:lnTo>
                <a:lnTo>
                  <a:pt x="0" y="3599717"/>
                </a:lnTo>
                <a:lnTo>
                  <a:pt x="0" y="0"/>
                </a:lnTo>
                <a:close/>
              </a:path>
            </a:pathLst>
          </a:custGeom>
          <a:blipFill>
            <a:blip r:embed="rId3">
              <a:alphaModFix amt="12000"/>
            </a:blip>
            <a:stretch>
              <a:fillRect l="0" t="0" r="0" b="0"/>
            </a:stretch>
          </a:blipFill>
        </p:spPr>
      </p:sp>
      <p:sp>
        <p:nvSpPr>
          <p:cNvPr name="Freeform 4" id="4"/>
          <p:cNvSpPr/>
          <p:nvPr/>
        </p:nvSpPr>
        <p:spPr>
          <a:xfrm flipH="false" flipV="false" rot="0">
            <a:off x="-924022" y="5188961"/>
            <a:ext cx="4716981" cy="6251420"/>
          </a:xfrm>
          <a:custGeom>
            <a:avLst/>
            <a:gdLst/>
            <a:ahLst/>
            <a:cxnLst/>
            <a:rect r="r" b="b" t="t" l="l"/>
            <a:pathLst>
              <a:path h="6251420" w="4716981">
                <a:moveTo>
                  <a:pt x="0" y="0"/>
                </a:moveTo>
                <a:lnTo>
                  <a:pt x="4716981" y="0"/>
                </a:lnTo>
                <a:lnTo>
                  <a:pt x="4716981" y="6251421"/>
                </a:lnTo>
                <a:lnTo>
                  <a:pt x="0" y="6251421"/>
                </a:lnTo>
                <a:lnTo>
                  <a:pt x="0" y="0"/>
                </a:lnTo>
                <a:close/>
              </a:path>
            </a:pathLst>
          </a:custGeom>
          <a:blipFill>
            <a:blip r:embed="rId4">
              <a:alphaModFix amt="2000"/>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791740" y="3861873"/>
            <a:ext cx="13017405" cy="6302997"/>
          </a:xfrm>
          <a:prstGeom prst="rect">
            <a:avLst/>
          </a:prstGeom>
        </p:spPr>
        <p:txBody>
          <a:bodyPr anchor="t" rtlCol="false" tIns="0" lIns="0" bIns="0" rIns="0">
            <a:spAutoFit/>
          </a:bodyPr>
          <a:lstStyle/>
          <a:p>
            <a:pPr algn="l">
              <a:lnSpc>
                <a:spcPts val="25340"/>
              </a:lnSpc>
            </a:pPr>
            <a:r>
              <a:rPr lang="en-US" sz="18100" spc="-850" b="true">
                <a:solidFill>
                  <a:srgbClr val="424242"/>
                </a:solidFill>
                <a:latin typeface="Open Sauce Heavy"/>
                <a:ea typeface="Open Sauce Heavy"/>
                <a:cs typeface="Open Sauce Heavy"/>
                <a:sym typeface="Open Sauce Heavy"/>
              </a:rPr>
              <a:t>IMPULSE FORGE</a:t>
            </a:r>
          </a:p>
        </p:txBody>
      </p:sp>
      <p:sp>
        <p:nvSpPr>
          <p:cNvPr name="AutoShape 6" id="6"/>
          <p:cNvSpPr/>
          <p:nvPr/>
        </p:nvSpPr>
        <p:spPr>
          <a:xfrm>
            <a:off x="1045163" y="1480091"/>
            <a:ext cx="16214137" cy="0"/>
          </a:xfrm>
          <a:prstGeom prst="line">
            <a:avLst/>
          </a:prstGeom>
          <a:ln cap="flat" w="19050">
            <a:solidFill>
              <a:srgbClr val="424242"/>
            </a:solidFill>
            <a:prstDash val="solid"/>
            <a:headEnd type="none" len="sm" w="sm"/>
            <a:tailEnd type="none" len="sm" w="sm"/>
          </a:ln>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424242"/>
        </a:solidFill>
      </p:bgPr>
    </p:bg>
    <p:spTree>
      <p:nvGrpSpPr>
        <p:cNvPr id="1" name=""/>
        <p:cNvGrpSpPr/>
        <p:nvPr/>
      </p:nvGrpSpPr>
      <p:grpSpPr>
        <a:xfrm>
          <a:off x="0" y="0"/>
          <a:ext cx="0" cy="0"/>
          <a:chOff x="0" y="0"/>
          <a:chExt cx="0" cy="0"/>
        </a:xfrm>
      </p:grpSpPr>
      <p:grpSp>
        <p:nvGrpSpPr>
          <p:cNvPr name="Group 2" id="2"/>
          <p:cNvGrpSpPr/>
          <p:nvPr/>
        </p:nvGrpSpPr>
        <p:grpSpPr>
          <a:xfrm rot="0">
            <a:off x="471833" y="4365103"/>
            <a:ext cx="9144000" cy="5565475"/>
            <a:chOff x="0" y="0"/>
            <a:chExt cx="2408296" cy="1465804"/>
          </a:xfrm>
        </p:grpSpPr>
        <p:sp>
          <p:nvSpPr>
            <p:cNvPr name="Freeform 3" id="3"/>
            <p:cNvSpPr/>
            <p:nvPr/>
          </p:nvSpPr>
          <p:spPr>
            <a:xfrm flipH="false" flipV="false" rot="0">
              <a:off x="0" y="0"/>
              <a:ext cx="2408296" cy="1465804"/>
            </a:xfrm>
            <a:custGeom>
              <a:avLst/>
              <a:gdLst/>
              <a:ahLst/>
              <a:cxnLst/>
              <a:rect r="r" b="b" t="t" l="l"/>
              <a:pathLst>
                <a:path h="1465804" w="2408296">
                  <a:moveTo>
                    <a:pt x="78740" y="0"/>
                  </a:moveTo>
                  <a:lnTo>
                    <a:pt x="2329556" y="0"/>
                  </a:lnTo>
                  <a:cubicBezTo>
                    <a:pt x="2373043" y="0"/>
                    <a:pt x="2408296" y="35253"/>
                    <a:pt x="2408296" y="78740"/>
                  </a:cubicBezTo>
                  <a:lnTo>
                    <a:pt x="2408296" y="1387064"/>
                  </a:lnTo>
                  <a:cubicBezTo>
                    <a:pt x="2408296" y="1407947"/>
                    <a:pt x="2400000" y="1427975"/>
                    <a:pt x="2385234" y="1442742"/>
                  </a:cubicBezTo>
                  <a:cubicBezTo>
                    <a:pt x="2370467" y="1457508"/>
                    <a:pt x="2350439" y="1465804"/>
                    <a:pt x="2329556" y="1465804"/>
                  </a:cubicBezTo>
                  <a:lnTo>
                    <a:pt x="78740" y="1465804"/>
                  </a:lnTo>
                  <a:cubicBezTo>
                    <a:pt x="35253" y="1465804"/>
                    <a:pt x="0" y="1430551"/>
                    <a:pt x="0" y="1387064"/>
                  </a:cubicBezTo>
                  <a:lnTo>
                    <a:pt x="0" y="78740"/>
                  </a:lnTo>
                  <a:cubicBezTo>
                    <a:pt x="0" y="35253"/>
                    <a:pt x="35253" y="0"/>
                    <a:pt x="78740" y="0"/>
                  </a:cubicBezTo>
                  <a:close/>
                </a:path>
              </a:pathLst>
            </a:custGeom>
            <a:solidFill>
              <a:srgbClr val="424242"/>
            </a:solidFill>
            <a:ln w="19050" cap="rnd">
              <a:solidFill>
                <a:srgbClr val="D0D7DD"/>
              </a:solidFill>
              <a:prstDash val="solid"/>
              <a:round/>
            </a:ln>
          </p:spPr>
        </p:sp>
        <p:sp>
          <p:nvSpPr>
            <p:cNvPr name="TextBox 4" id="4"/>
            <p:cNvSpPr txBox="true"/>
            <p:nvPr/>
          </p:nvSpPr>
          <p:spPr>
            <a:xfrm>
              <a:off x="0" y="-28575"/>
              <a:ext cx="2408296" cy="1494379"/>
            </a:xfrm>
            <a:prstGeom prst="rect">
              <a:avLst/>
            </a:prstGeom>
          </p:spPr>
          <p:txBody>
            <a:bodyPr anchor="ctr" rtlCol="false" tIns="50800" lIns="50800" bIns="50800" rIns="50800"/>
            <a:lstStyle/>
            <a:p>
              <a:pPr algn="ctr">
                <a:lnSpc>
                  <a:spcPts val="2015"/>
                </a:lnSpc>
              </a:pPr>
            </a:p>
          </p:txBody>
        </p:sp>
      </p:grpSp>
      <p:sp>
        <p:nvSpPr>
          <p:cNvPr name="TextBox 5" id="5"/>
          <p:cNvSpPr txBox="true"/>
          <p:nvPr/>
        </p:nvSpPr>
        <p:spPr>
          <a:xfrm rot="0">
            <a:off x="1891435" y="4588499"/>
            <a:ext cx="3380192" cy="381000"/>
          </a:xfrm>
          <a:prstGeom prst="rect">
            <a:avLst/>
          </a:prstGeom>
        </p:spPr>
        <p:txBody>
          <a:bodyPr anchor="t" rtlCol="false" tIns="0" lIns="0" bIns="0" rIns="0">
            <a:spAutoFit/>
          </a:bodyPr>
          <a:lstStyle/>
          <a:p>
            <a:pPr algn="l">
              <a:lnSpc>
                <a:spcPts val="3120"/>
              </a:lnSpc>
            </a:pPr>
            <a:r>
              <a:rPr lang="en-US" b="true" sz="2600" spc="-122">
                <a:solidFill>
                  <a:srgbClr val="FFBD59"/>
                </a:solidFill>
                <a:latin typeface="Open Sauce Heavy"/>
                <a:ea typeface="Open Sauce Heavy"/>
                <a:cs typeface="Open Sauce Heavy"/>
                <a:sym typeface="Open Sauce Heavy"/>
              </a:rPr>
              <a:t>Lightning </a:t>
            </a:r>
          </a:p>
        </p:txBody>
      </p:sp>
      <p:sp>
        <p:nvSpPr>
          <p:cNvPr name="AutoShape 6" id="6"/>
          <p:cNvSpPr/>
          <p:nvPr/>
        </p:nvSpPr>
        <p:spPr>
          <a:xfrm flipH="true">
            <a:off x="4694459" y="4365103"/>
            <a:ext cx="23257" cy="4893197"/>
          </a:xfrm>
          <a:prstGeom prst="line">
            <a:avLst/>
          </a:prstGeom>
          <a:ln cap="flat" w="19050">
            <a:solidFill>
              <a:srgbClr val="D0D7DD"/>
            </a:solidFill>
            <a:prstDash val="solid"/>
            <a:headEnd type="none" len="sm" w="sm"/>
            <a:tailEnd type="none" len="sm" w="sm"/>
          </a:ln>
        </p:spPr>
      </p:sp>
      <p:grpSp>
        <p:nvGrpSpPr>
          <p:cNvPr name="Group 7" id="7"/>
          <p:cNvGrpSpPr/>
          <p:nvPr/>
        </p:nvGrpSpPr>
        <p:grpSpPr>
          <a:xfrm rot="0">
            <a:off x="1221841" y="4578974"/>
            <a:ext cx="371599" cy="387050"/>
            <a:chOff x="0" y="0"/>
            <a:chExt cx="780354" cy="812800"/>
          </a:xfrm>
        </p:grpSpPr>
        <p:sp>
          <p:nvSpPr>
            <p:cNvPr name="Freeform 8" id="8"/>
            <p:cNvSpPr/>
            <p:nvPr/>
          </p:nvSpPr>
          <p:spPr>
            <a:xfrm flipH="false" flipV="false" rot="0">
              <a:off x="0" y="0"/>
              <a:ext cx="780354" cy="812800"/>
            </a:xfrm>
            <a:custGeom>
              <a:avLst/>
              <a:gdLst/>
              <a:ahLst/>
              <a:cxnLst/>
              <a:rect r="r" b="b" t="t" l="l"/>
              <a:pathLst>
                <a:path h="812800" w="780354">
                  <a:moveTo>
                    <a:pt x="390177" y="0"/>
                  </a:moveTo>
                  <a:cubicBezTo>
                    <a:pt x="174688" y="0"/>
                    <a:pt x="0" y="181951"/>
                    <a:pt x="0" y="406400"/>
                  </a:cubicBezTo>
                  <a:cubicBezTo>
                    <a:pt x="0" y="630849"/>
                    <a:pt x="174688" y="812800"/>
                    <a:pt x="390177" y="812800"/>
                  </a:cubicBezTo>
                  <a:cubicBezTo>
                    <a:pt x="605665" y="812800"/>
                    <a:pt x="780354" y="630849"/>
                    <a:pt x="780354" y="406400"/>
                  </a:cubicBezTo>
                  <a:cubicBezTo>
                    <a:pt x="780354" y="181951"/>
                    <a:pt x="605665" y="0"/>
                    <a:pt x="390177" y="0"/>
                  </a:cubicBezTo>
                  <a:close/>
                </a:path>
              </a:pathLst>
            </a:custGeom>
            <a:solidFill>
              <a:srgbClr val="FFBD59"/>
            </a:solidFill>
            <a:ln w="9525" cap="sq">
              <a:solidFill>
                <a:srgbClr val="FFFFFF"/>
              </a:solidFill>
              <a:prstDash val="solid"/>
              <a:miter/>
            </a:ln>
          </p:spPr>
        </p:sp>
        <p:sp>
          <p:nvSpPr>
            <p:cNvPr name="TextBox 9" id="9"/>
            <p:cNvSpPr txBox="true"/>
            <p:nvPr/>
          </p:nvSpPr>
          <p:spPr>
            <a:xfrm>
              <a:off x="73158" y="142875"/>
              <a:ext cx="634037" cy="593725"/>
            </a:xfrm>
            <a:prstGeom prst="rect">
              <a:avLst/>
            </a:prstGeom>
          </p:spPr>
          <p:txBody>
            <a:bodyPr anchor="ctr" rtlCol="false" tIns="50800" lIns="50800" bIns="50800" rIns="50800"/>
            <a:lstStyle/>
            <a:p>
              <a:pPr algn="ctr">
                <a:lnSpc>
                  <a:spcPts val="2350"/>
                </a:lnSpc>
              </a:pPr>
            </a:p>
          </p:txBody>
        </p:sp>
      </p:grpSp>
      <p:grpSp>
        <p:nvGrpSpPr>
          <p:cNvPr name="Group 10" id="10"/>
          <p:cNvGrpSpPr/>
          <p:nvPr/>
        </p:nvGrpSpPr>
        <p:grpSpPr>
          <a:xfrm rot="0">
            <a:off x="5271627" y="4568345"/>
            <a:ext cx="387050" cy="387050"/>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D59"/>
            </a:solidFill>
            <a:ln w="9525" cap="sq">
              <a:solidFill>
                <a:srgbClr val="FFFFFF"/>
              </a:solidFill>
              <a:prstDash val="solid"/>
              <a:miter/>
            </a:ln>
          </p:spPr>
        </p:sp>
        <p:sp>
          <p:nvSpPr>
            <p:cNvPr name="TextBox 12" id="12"/>
            <p:cNvSpPr txBox="true"/>
            <p:nvPr/>
          </p:nvSpPr>
          <p:spPr>
            <a:xfrm>
              <a:off x="76200" y="142875"/>
              <a:ext cx="660400" cy="593725"/>
            </a:xfrm>
            <a:prstGeom prst="rect">
              <a:avLst/>
            </a:prstGeom>
          </p:spPr>
          <p:txBody>
            <a:bodyPr anchor="ctr" rtlCol="false" tIns="50800" lIns="50800" bIns="50800" rIns="50800"/>
            <a:lstStyle/>
            <a:p>
              <a:pPr algn="ctr">
                <a:lnSpc>
                  <a:spcPts val="2350"/>
                </a:lnSpc>
              </a:pPr>
            </a:p>
          </p:txBody>
        </p:sp>
      </p:grpSp>
      <p:sp>
        <p:nvSpPr>
          <p:cNvPr name="Freeform 13" id="13"/>
          <p:cNvSpPr/>
          <p:nvPr/>
        </p:nvSpPr>
        <p:spPr>
          <a:xfrm flipH="false" flipV="false" rot="0">
            <a:off x="9923943" y="5002519"/>
            <a:ext cx="4953021" cy="4580540"/>
          </a:xfrm>
          <a:custGeom>
            <a:avLst/>
            <a:gdLst/>
            <a:ahLst/>
            <a:cxnLst/>
            <a:rect r="r" b="b" t="t" l="l"/>
            <a:pathLst>
              <a:path h="4580540" w="4953021">
                <a:moveTo>
                  <a:pt x="0" y="0"/>
                </a:moveTo>
                <a:lnTo>
                  <a:pt x="4953021" y="0"/>
                </a:lnTo>
                <a:lnTo>
                  <a:pt x="4953021" y="4580540"/>
                </a:lnTo>
                <a:lnTo>
                  <a:pt x="0" y="4580540"/>
                </a:lnTo>
                <a:lnTo>
                  <a:pt x="0" y="0"/>
                </a:lnTo>
                <a:close/>
              </a:path>
            </a:pathLst>
          </a:custGeom>
          <a:blipFill>
            <a:blip r:embed="rId2"/>
            <a:stretch>
              <a:fillRect l="-4038" t="0" r="-2379" b="-15071"/>
            </a:stretch>
          </a:blipFill>
        </p:spPr>
      </p:sp>
      <p:sp>
        <p:nvSpPr>
          <p:cNvPr name="Freeform 14" id="14"/>
          <p:cNvSpPr/>
          <p:nvPr/>
        </p:nvSpPr>
        <p:spPr>
          <a:xfrm flipH="false" flipV="false" rot="0">
            <a:off x="15185074" y="3883053"/>
            <a:ext cx="2226615" cy="5840987"/>
          </a:xfrm>
          <a:custGeom>
            <a:avLst/>
            <a:gdLst/>
            <a:ahLst/>
            <a:cxnLst/>
            <a:rect r="r" b="b" t="t" l="l"/>
            <a:pathLst>
              <a:path h="5840987" w="2226615">
                <a:moveTo>
                  <a:pt x="0" y="0"/>
                </a:moveTo>
                <a:lnTo>
                  <a:pt x="2226615" y="0"/>
                </a:lnTo>
                <a:lnTo>
                  <a:pt x="2226615" y="5840987"/>
                </a:lnTo>
                <a:lnTo>
                  <a:pt x="0" y="5840987"/>
                </a:lnTo>
                <a:lnTo>
                  <a:pt x="0" y="0"/>
                </a:lnTo>
                <a:close/>
              </a:path>
            </a:pathLst>
          </a:custGeom>
          <a:blipFill>
            <a:blip r:embed="rId3"/>
            <a:stretch>
              <a:fillRect l="-84433" t="0" r="-77892" b="0"/>
            </a:stretch>
          </a:blipFill>
        </p:spPr>
      </p:sp>
      <p:sp>
        <p:nvSpPr>
          <p:cNvPr name="TextBox 15" id="15"/>
          <p:cNvSpPr txBox="true"/>
          <p:nvPr/>
        </p:nvSpPr>
        <p:spPr>
          <a:xfrm rot="0">
            <a:off x="471833" y="413260"/>
            <a:ext cx="18288000" cy="1066831"/>
          </a:xfrm>
          <a:prstGeom prst="rect">
            <a:avLst/>
          </a:prstGeom>
        </p:spPr>
        <p:txBody>
          <a:bodyPr anchor="t" rtlCol="false" tIns="0" lIns="0" bIns="0" rIns="0">
            <a:spAutoFit/>
          </a:bodyPr>
          <a:lstStyle/>
          <a:p>
            <a:pPr algn="l">
              <a:lnSpc>
                <a:spcPts val="7864"/>
              </a:lnSpc>
            </a:pPr>
            <a:r>
              <a:rPr lang="en-US" sz="8366" spc="-393" b="true">
                <a:solidFill>
                  <a:srgbClr val="FFFFFF"/>
                </a:solidFill>
                <a:latin typeface="Open Sauce Heavy"/>
                <a:ea typeface="Open Sauce Heavy"/>
                <a:cs typeface="Open Sauce Heavy"/>
                <a:sym typeface="Open Sauce Heavy"/>
              </a:rPr>
              <a:t>Introduction </a:t>
            </a:r>
          </a:p>
        </p:txBody>
      </p:sp>
      <p:sp>
        <p:nvSpPr>
          <p:cNvPr name="TextBox 16" id="16"/>
          <p:cNvSpPr txBox="true"/>
          <p:nvPr/>
        </p:nvSpPr>
        <p:spPr>
          <a:xfrm rot="0">
            <a:off x="5831769" y="4581549"/>
            <a:ext cx="3380192" cy="381000"/>
          </a:xfrm>
          <a:prstGeom prst="rect">
            <a:avLst/>
          </a:prstGeom>
        </p:spPr>
        <p:txBody>
          <a:bodyPr anchor="t" rtlCol="false" tIns="0" lIns="0" bIns="0" rIns="0">
            <a:spAutoFit/>
          </a:bodyPr>
          <a:lstStyle/>
          <a:p>
            <a:pPr algn="l">
              <a:lnSpc>
                <a:spcPts val="3120"/>
              </a:lnSpc>
            </a:pPr>
            <a:r>
              <a:rPr lang="en-US" b="true" sz="2600" spc="-122">
                <a:solidFill>
                  <a:srgbClr val="FFBD59"/>
                </a:solidFill>
                <a:latin typeface="Open Sauce Heavy"/>
                <a:ea typeface="Open Sauce Heavy"/>
                <a:cs typeface="Open Sauce Heavy"/>
                <a:sym typeface="Open Sauce Heavy"/>
              </a:rPr>
              <a:t>Switching </a:t>
            </a:r>
          </a:p>
        </p:txBody>
      </p:sp>
      <p:sp>
        <p:nvSpPr>
          <p:cNvPr name="TextBox 17" id="17"/>
          <p:cNvSpPr txBox="true"/>
          <p:nvPr/>
        </p:nvSpPr>
        <p:spPr>
          <a:xfrm rot="0">
            <a:off x="746843" y="5500326"/>
            <a:ext cx="4032126" cy="3887470"/>
          </a:xfrm>
          <a:prstGeom prst="rect">
            <a:avLst/>
          </a:prstGeom>
        </p:spPr>
        <p:txBody>
          <a:bodyPr anchor="t" rtlCol="false" tIns="0" lIns="0" bIns="0" rIns="0">
            <a:spAutoFit/>
          </a:bodyPr>
          <a:lstStyle/>
          <a:p>
            <a:pPr algn="l">
              <a:lnSpc>
                <a:spcPts val="3079"/>
              </a:lnSpc>
            </a:pPr>
            <a:r>
              <a:rPr lang="en-US" sz="2199" spc="-103">
                <a:solidFill>
                  <a:srgbClr val="FFFFFF"/>
                </a:solidFill>
                <a:latin typeface="Canva Sans 1"/>
                <a:ea typeface="Canva Sans 1"/>
                <a:cs typeface="Canva Sans 1"/>
                <a:sym typeface="Canva Sans 1"/>
              </a:rPr>
              <a:t>Direct lightning strikes to transmission conductors or back-flashovers across tower footings inject tens of kiloamperes. Extremely steep wavefront (∼1.2 μs). Voltage drops across initial turns of the transformer winding, creating extreme turn-to-turn paper insulation stress.</a:t>
            </a:r>
          </a:p>
        </p:txBody>
      </p:sp>
      <p:sp>
        <p:nvSpPr>
          <p:cNvPr name="TextBox 18" id="18"/>
          <p:cNvSpPr txBox="true"/>
          <p:nvPr/>
        </p:nvSpPr>
        <p:spPr>
          <a:xfrm rot="0">
            <a:off x="4950419" y="5305063"/>
            <a:ext cx="4145806" cy="4277995"/>
          </a:xfrm>
          <a:prstGeom prst="rect">
            <a:avLst/>
          </a:prstGeom>
        </p:spPr>
        <p:txBody>
          <a:bodyPr anchor="t" rtlCol="false" tIns="0" lIns="0" bIns="0" rIns="0">
            <a:spAutoFit/>
          </a:bodyPr>
          <a:lstStyle/>
          <a:p>
            <a:pPr algn="l">
              <a:lnSpc>
                <a:spcPts val="3079"/>
              </a:lnSpc>
            </a:pPr>
            <a:r>
              <a:rPr lang="en-US" sz="2199" spc="-103">
                <a:solidFill>
                  <a:srgbClr val="FFFFFF"/>
                </a:solidFill>
                <a:latin typeface="Canva Sans 2"/>
                <a:ea typeface="Canva Sans 2"/>
                <a:cs typeface="Canva Sans 2"/>
                <a:sym typeface="Canva Sans 2"/>
              </a:rPr>
              <a:t>Operation of EHV circuit breakers, clearing line faults, dropping unloaded transformer banks, or energizing long 400 kV/765 kV open-ended lines. Trapped LC energy oscillates.Longer duration (∼250 μs front, 2500 μs tail). Stresses phase-to-ground clearances, major oil ducts, and drives the transformer core into severe magnetic saturation.</a:t>
            </a:r>
          </a:p>
        </p:txBody>
      </p:sp>
      <p:sp>
        <p:nvSpPr>
          <p:cNvPr name="TextBox 19" id="19"/>
          <p:cNvSpPr txBox="true"/>
          <p:nvPr/>
        </p:nvSpPr>
        <p:spPr>
          <a:xfrm rot="0">
            <a:off x="11271913" y="5752278"/>
            <a:ext cx="3741711" cy="240665"/>
          </a:xfrm>
          <a:prstGeom prst="rect">
            <a:avLst/>
          </a:prstGeom>
        </p:spPr>
        <p:txBody>
          <a:bodyPr anchor="t" rtlCol="false" tIns="0" lIns="0" bIns="0" rIns="0">
            <a:spAutoFit/>
          </a:bodyPr>
          <a:lstStyle/>
          <a:p>
            <a:pPr algn="l">
              <a:lnSpc>
                <a:spcPts val="1960"/>
              </a:lnSpc>
            </a:pPr>
          </a:p>
        </p:txBody>
      </p:sp>
      <p:sp>
        <p:nvSpPr>
          <p:cNvPr name="TextBox 20" id="20"/>
          <p:cNvSpPr txBox="true"/>
          <p:nvPr/>
        </p:nvSpPr>
        <p:spPr>
          <a:xfrm rot="0">
            <a:off x="471833" y="1555717"/>
            <a:ext cx="17343300" cy="2213610"/>
          </a:xfrm>
          <a:prstGeom prst="rect">
            <a:avLst/>
          </a:prstGeom>
        </p:spPr>
        <p:txBody>
          <a:bodyPr anchor="t" rtlCol="false" tIns="0" lIns="0" bIns="0" rIns="0">
            <a:spAutoFit/>
          </a:bodyPr>
          <a:lstStyle/>
          <a:p>
            <a:pPr algn="l">
              <a:lnSpc>
                <a:spcPts val="2939"/>
              </a:lnSpc>
            </a:pPr>
            <a:r>
              <a:rPr lang="en-US" sz="2099" spc="-98" b="true">
                <a:solidFill>
                  <a:srgbClr val="FFFFFF"/>
                </a:solidFill>
                <a:latin typeface="Canva Sans 2 Bold"/>
                <a:ea typeface="Canva Sans 2 Bold"/>
                <a:cs typeface="Canva Sans 2 Bold"/>
                <a:sym typeface="Canva Sans 2 Bold"/>
              </a:rPr>
              <a:t>High-voltage electrical equipment</a:t>
            </a:r>
            <a:r>
              <a:rPr lang="en-US" sz="2099" spc="-98">
                <a:solidFill>
                  <a:srgbClr val="FFFFFF"/>
                </a:solidFill>
                <a:latin typeface="Canva Sans 2"/>
                <a:ea typeface="Canva Sans 2"/>
                <a:cs typeface="Canva Sans 2"/>
                <a:sym typeface="Canva Sans 2"/>
              </a:rPr>
              <a:t> such as switchgear, cables, and transformers represent </a:t>
            </a:r>
            <a:r>
              <a:rPr lang="en-US" sz="2099" spc="-98" b="true">
                <a:solidFill>
                  <a:srgbClr val="FFFFFF"/>
                </a:solidFill>
                <a:latin typeface="Canva Sans 2 Bold"/>
                <a:ea typeface="Canva Sans 2 Bold"/>
                <a:cs typeface="Canva Sans 2 Bold"/>
                <a:sym typeface="Canva Sans 2 Bold"/>
              </a:rPr>
              <a:t>critical capital assets</a:t>
            </a:r>
            <a:r>
              <a:rPr lang="en-US" sz="2099" spc="-98">
                <a:solidFill>
                  <a:srgbClr val="FFFFFF"/>
                </a:solidFill>
                <a:latin typeface="Canva Sans 2"/>
                <a:ea typeface="Canva Sans 2"/>
                <a:cs typeface="Canva Sans 2"/>
                <a:sym typeface="Canva Sans 2"/>
              </a:rPr>
              <a:t> in any power network. </a:t>
            </a:r>
          </a:p>
          <a:p>
            <a:pPr algn="l">
              <a:lnSpc>
                <a:spcPts val="2939"/>
              </a:lnSpc>
            </a:pPr>
            <a:r>
              <a:rPr lang="en-US" sz="2099" spc="-98">
                <a:solidFill>
                  <a:srgbClr val="FFFFFF"/>
                </a:solidFill>
                <a:latin typeface="Canva Sans 2"/>
                <a:ea typeface="Canva Sans 2"/>
                <a:cs typeface="Canva Sans 2"/>
                <a:sym typeface="Canva Sans 2"/>
              </a:rPr>
              <a:t>Operating in exposed environments, these components are routinely subjected to severe transient </a:t>
            </a:r>
            <a:r>
              <a:rPr lang="en-US" sz="2099" spc="-98" b="true">
                <a:solidFill>
                  <a:srgbClr val="FFFFFF"/>
                </a:solidFill>
                <a:latin typeface="Canva Sans 2 Bold"/>
                <a:ea typeface="Canva Sans 2 Bold"/>
                <a:cs typeface="Canva Sans 2 Bold"/>
                <a:sym typeface="Canva Sans 2 Bold"/>
              </a:rPr>
              <a:t>overvoltages</a:t>
            </a:r>
            <a:r>
              <a:rPr lang="en-US" sz="2099" spc="-98">
                <a:solidFill>
                  <a:srgbClr val="FFFFFF"/>
                </a:solidFill>
                <a:latin typeface="Canva Sans 2"/>
                <a:ea typeface="Canva Sans 2"/>
                <a:cs typeface="Canva Sans 2"/>
                <a:sym typeface="Canva Sans 2"/>
              </a:rPr>
              <a:t> from </a:t>
            </a:r>
            <a:r>
              <a:rPr lang="en-US" sz="2099" spc="-98" b="true">
                <a:solidFill>
                  <a:srgbClr val="FFFFFF"/>
                </a:solidFill>
                <a:latin typeface="Canva Sans 2 Bold"/>
                <a:ea typeface="Canva Sans 2 Bold"/>
                <a:cs typeface="Canva Sans 2 Bold"/>
                <a:sym typeface="Canva Sans 2 Bold"/>
              </a:rPr>
              <a:t>lightning strikes and grid switching</a:t>
            </a:r>
            <a:r>
              <a:rPr lang="en-US" sz="2099" spc="-98">
                <a:solidFill>
                  <a:srgbClr val="FFFFFF"/>
                </a:solidFill>
                <a:latin typeface="Canva Sans 2"/>
                <a:ea typeface="Canva Sans 2"/>
                <a:cs typeface="Canva Sans 2"/>
                <a:sym typeface="Canva Sans 2"/>
              </a:rPr>
              <a:t> operations. Before any new high-voltage equipment design is cleared for commercial deployment, it must undergo statutory type testing using impulse generators at accredited high-voltage laboratories. The objective of this high-voltage impulse testing is to verify that the equipment's insulation systems can safely withstand high-energy, microsecond-duration transient surges without experiencing dielectric breakdown. Let’s take an example of a transformer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D0D7DD"/>
        </a:solidFill>
      </p:bgPr>
    </p:bg>
    <p:spTree>
      <p:nvGrpSpPr>
        <p:cNvPr id="1" name=""/>
        <p:cNvGrpSpPr/>
        <p:nvPr/>
      </p:nvGrpSpPr>
      <p:grpSpPr>
        <a:xfrm>
          <a:off x="0" y="0"/>
          <a:ext cx="0" cy="0"/>
          <a:chOff x="0" y="0"/>
          <a:chExt cx="0" cy="0"/>
        </a:xfrm>
      </p:grpSpPr>
      <p:sp>
        <p:nvSpPr>
          <p:cNvPr name="Freeform 2" id="2"/>
          <p:cNvSpPr/>
          <p:nvPr/>
        </p:nvSpPr>
        <p:spPr>
          <a:xfrm flipH="false" flipV="false" rot="-1977201">
            <a:off x="13220839" y="-2206378"/>
            <a:ext cx="12791303" cy="9442307"/>
          </a:xfrm>
          <a:custGeom>
            <a:avLst/>
            <a:gdLst/>
            <a:ahLst/>
            <a:cxnLst/>
            <a:rect r="r" b="b" t="t" l="l"/>
            <a:pathLst>
              <a:path h="9442307" w="12791303">
                <a:moveTo>
                  <a:pt x="0" y="0"/>
                </a:moveTo>
                <a:lnTo>
                  <a:pt x="12791302" y="0"/>
                </a:lnTo>
                <a:lnTo>
                  <a:pt x="12791302" y="9442307"/>
                </a:lnTo>
                <a:lnTo>
                  <a:pt x="0" y="9442307"/>
                </a:lnTo>
                <a:lnTo>
                  <a:pt x="0" y="0"/>
                </a:lnTo>
                <a:close/>
              </a:path>
            </a:pathLst>
          </a:custGeom>
          <a:blipFill>
            <a:blip r:embed="rId2">
              <a:alphaModFix amt="28000"/>
            </a:blip>
            <a:stretch>
              <a:fillRect l="0" t="0" r="0" b="0"/>
            </a:stretch>
          </a:blipFill>
        </p:spPr>
      </p:sp>
      <p:grpSp>
        <p:nvGrpSpPr>
          <p:cNvPr name="Group 3" id="3"/>
          <p:cNvGrpSpPr/>
          <p:nvPr/>
        </p:nvGrpSpPr>
        <p:grpSpPr>
          <a:xfrm rot="0">
            <a:off x="281873" y="1928314"/>
            <a:ext cx="8278674" cy="7464587"/>
            <a:chOff x="0" y="0"/>
            <a:chExt cx="2180391" cy="1965982"/>
          </a:xfrm>
        </p:grpSpPr>
        <p:sp>
          <p:nvSpPr>
            <p:cNvPr name="Freeform 4" id="4"/>
            <p:cNvSpPr/>
            <p:nvPr/>
          </p:nvSpPr>
          <p:spPr>
            <a:xfrm flipH="false" flipV="false" rot="0">
              <a:off x="0" y="0"/>
              <a:ext cx="2180392" cy="1965982"/>
            </a:xfrm>
            <a:custGeom>
              <a:avLst/>
              <a:gdLst/>
              <a:ahLst/>
              <a:cxnLst/>
              <a:rect r="r" b="b" t="t" l="l"/>
              <a:pathLst>
                <a:path h="1965982" w="2180392">
                  <a:moveTo>
                    <a:pt x="86970" y="0"/>
                  </a:moveTo>
                  <a:lnTo>
                    <a:pt x="2093421" y="0"/>
                  </a:lnTo>
                  <a:cubicBezTo>
                    <a:pt x="2116487" y="0"/>
                    <a:pt x="2138608" y="9163"/>
                    <a:pt x="2154918" y="25473"/>
                  </a:cubicBezTo>
                  <a:cubicBezTo>
                    <a:pt x="2171229" y="41783"/>
                    <a:pt x="2180392" y="63904"/>
                    <a:pt x="2180392" y="86970"/>
                  </a:cubicBezTo>
                  <a:lnTo>
                    <a:pt x="2180392" y="1879012"/>
                  </a:lnTo>
                  <a:cubicBezTo>
                    <a:pt x="2180392" y="1927044"/>
                    <a:pt x="2141454" y="1965982"/>
                    <a:pt x="2093421" y="1965982"/>
                  </a:cubicBezTo>
                  <a:lnTo>
                    <a:pt x="86970" y="1965982"/>
                  </a:lnTo>
                  <a:cubicBezTo>
                    <a:pt x="63904" y="1965982"/>
                    <a:pt x="41783" y="1956819"/>
                    <a:pt x="25473" y="1940509"/>
                  </a:cubicBezTo>
                  <a:cubicBezTo>
                    <a:pt x="9163" y="1924199"/>
                    <a:pt x="0" y="1902078"/>
                    <a:pt x="0" y="1879012"/>
                  </a:cubicBezTo>
                  <a:lnTo>
                    <a:pt x="0" y="86970"/>
                  </a:lnTo>
                  <a:cubicBezTo>
                    <a:pt x="0" y="63904"/>
                    <a:pt x="9163" y="41783"/>
                    <a:pt x="25473" y="25473"/>
                  </a:cubicBezTo>
                  <a:cubicBezTo>
                    <a:pt x="41783" y="9163"/>
                    <a:pt x="63904" y="0"/>
                    <a:pt x="86970" y="0"/>
                  </a:cubicBezTo>
                  <a:close/>
                </a:path>
              </a:pathLst>
            </a:custGeom>
            <a:solidFill>
              <a:srgbClr val="D0D7DD"/>
            </a:solidFill>
            <a:ln w="19050" cap="rnd">
              <a:solidFill>
                <a:srgbClr val="424242"/>
              </a:solidFill>
              <a:prstDash val="solid"/>
              <a:round/>
            </a:ln>
          </p:spPr>
        </p:sp>
        <p:sp>
          <p:nvSpPr>
            <p:cNvPr name="TextBox 5" id="5"/>
            <p:cNvSpPr txBox="true"/>
            <p:nvPr/>
          </p:nvSpPr>
          <p:spPr>
            <a:xfrm>
              <a:off x="0" y="-28575"/>
              <a:ext cx="2180391" cy="1994557"/>
            </a:xfrm>
            <a:prstGeom prst="rect">
              <a:avLst/>
            </a:prstGeom>
          </p:spPr>
          <p:txBody>
            <a:bodyPr anchor="ctr" rtlCol="false" tIns="50800" lIns="50800" bIns="50800" rIns="50800"/>
            <a:lstStyle/>
            <a:p>
              <a:pPr algn="ctr">
                <a:lnSpc>
                  <a:spcPts val="2015"/>
                </a:lnSpc>
              </a:pPr>
            </a:p>
          </p:txBody>
        </p:sp>
      </p:grpSp>
      <p:sp>
        <p:nvSpPr>
          <p:cNvPr name="Freeform 6" id="6"/>
          <p:cNvSpPr/>
          <p:nvPr/>
        </p:nvSpPr>
        <p:spPr>
          <a:xfrm flipH="false" flipV="false" rot="0">
            <a:off x="1024757" y="3043906"/>
            <a:ext cx="6885364" cy="3092891"/>
          </a:xfrm>
          <a:custGeom>
            <a:avLst/>
            <a:gdLst/>
            <a:ahLst/>
            <a:cxnLst/>
            <a:rect r="r" b="b" t="t" l="l"/>
            <a:pathLst>
              <a:path h="3092891" w="6885364">
                <a:moveTo>
                  <a:pt x="0" y="0"/>
                </a:moveTo>
                <a:lnTo>
                  <a:pt x="6885363" y="0"/>
                </a:lnTo>
                <a:lnTo>
                  <a:pt x="6885363" y="3092891"/>
                </a:lnTo>
                <a:lnTo>
                  <a:pt x="0" y="3092891"/>
                </a:lnTo>
                <a:lnTo>
                  <a:pt x="0" y="0"/>
                </a:lnTo>
                <a:close/>
              </a:path>
            </a:pathLst>
          </a:custGeom>
          <a:blipFill>
            <a:blip r:embed="rId3"/>
            <a:stretch>
              <a:fillRect l="0" t="0" r="0" b="0"/>
            </a:stretch>
          </a:blipFill>
        </p:spPr>
      </p:sp>
      <p:sp>
        <p:nvSpPr>
          <p:cNvPr name="TextBox 7" id="7"/>
          <p:cNvSpPr txBox="true"/>
          <p:nvPr/>
        </p:nvSpPr>
        <p:spPr>
          <a:xfrm rot="0">
            <a:off x="409485" y="526868"/>
            <a:ext cx="10677413" cy="1401446"/>
          </a:xfrm>
          <a:prstGeom prst="rect">
            <a:avLst/>
          </a:prstGeom>
        </p:spPr>
        <p:txBody>
          <a:bodyPr anchor="t" rtlCol="false" tIns="0" lIns="0" bIns="0" rIns="0">
            <a:spAutoFit/>
          </a:bodyPr>
          <a:lstStyle/>
          <a:p>
            <a:pPr algn="l">
              <a:lnSpc>
                <a:spcPts val="10340"/>
              </a:lnSpc>
            </a:pPr>
            <a:r>
              <a:rPr lang="en-US" sz="11000" spc="-517" b="true">
                <a:solidFill>
                  <a:srgbClr val="424242"/>
                </a:solidFill>
                <a:latin typeface="Open Sauce Heavy"/>
                <a:ea typeface="Open Sauce Heavy"/>
                <a:cs typeface="Open Sauce Heavy"/>
                <a:sym typeface="Open Sauce Heavy"/>
              </a:rPr>
              <a:t>How it works</a:t>
            </a:r>
          </a:p>
        </p:txBody>
      </p:sp>
      <p:grpSp>
        <p:nvGrpSpPr>
          <p:cNvPr name="Group 8" id="8"/>
          <p:cNvGrpSpPr/>
          <p:nvPr/>
        </p:nvGrpSpPr>
        <p:grpSpPr>
          <a:xfrm rot="0">
            <a:off x="9144000" y="1928314"/>
            <a:ext cx="8278674" cy="7464587"/>
            <a:chOff x="0" y="0"/>
            <a:chExt cx="2180391" cy="1965982"/>
          </a:xfrm>
        </p:grpSpPr>
        <p:sp>
          <p:nvSpPr>
            <p:cNvPr name="Freeform 9" id="9"/>
            <p:cNvSpPr/>
            <p:nvPr/>
          </p:nvSpPr>
          <p:spPr>
            <a:xfrm flipH="false" flipV="false" rot="0">
              <a:off x="0" y="0"/>
              <a:ext cx="2180392" cy="1965982"/>
            </a:xfrm>
            <a:custGeom>
              <a:avLst/>
              <a:gdLst/>
              <a:ahLst/>
              <a:cxnLst/>
              <a:rect r="r" b="b" t="t" l="l"/>
              <a:pathLst>
                <a:path h="1965982" w="2180392">
                  <a:moveTo>
                    <a:pt x="86970" y="0"/>
                  </a:moveTo>
                  <a:lnTo>
                    <a:pt x="2093421" y="0"/>
                  </a:lnTo>
                  <a:cubicBezTo>
                    <a:pt x="2116487" y="0"/>
                    <a:pt x="2138608" y="9163"/>
                    <a:pt x="2154918" y="25473"/>
                  </a:cubicBezTo>
                  <a:cubicBezTo>
                    <a:pt x="2171229" y="41783"/>
                    <a:pt x="2180392" y="63904"/>
                    <a:pt x="2180392" y="86970"/>
                  </a:cubicBezTo>
                  <a:lnTo>
                    <a:pt x="2180392" y="1879012"/>
                  </a:lnTo>
                  <a:cubicBezTo>
                    <a:pt x="2180392" y="1927044"/>
                    <a:pt x="2141454" y="1965982"/>
                    <a:pt x="2093421" y="1965982"/>
                  </a:cubicBezTo>
                  <a:lnTo>
                    <a:pt x="86970" y="1965982"/>
                  </a:lnTo>
                  <a:cubicBezTo>
                    <a:pt x="63904" y="1965982"/>
                    <a:pt x="41783" y="1956819"/>
                    <a:pt x="25473" y="1940509"/>
                  </a:cubicBezTo>
                  <a:cubicBezTo>
                    <a:pt x="9163" y="1924199"/>
                    <a:pt x="0" y="1902078"/>
                    <a:pt x="0" y="1879012"/>
                  </a:cubicBezTo>
                  <a:lnTo>
                    <a:pt x="0" y="86970"/>
                  </a:lnTo>
                  <a:cubicBezTo>
                    <a:pt x="0" y="63904"/>
                    <a:pt x="9163" y="41783"/>
                    <a:pt x="25473" y="25473"/>
                  </a:cubicBezTo>
                  <a:cubicBezTo>
                    <a:pt x="41783" y="9163"/>
                    <a:pt x="63904" y="0"/>
                    <a:pt x="86970" y="0"/>
                  </a:cubicBezTo>
                  <a:close/>
                </a:path>
              </a:pathLst>
            </a:custGeom>
            <a:solidFill>
              <a:srgbClr val="D0D7DD"/>
            </a:solidFill>
            <a:ln w="19050" cap="rnd">
              <a:solidFill>
                <a:srgbClr val="424242"/>
              </a:solidFill>
              <a:prstDash val="solid"/>
              <a:round/>
            </a:ln>
          </p:spPr>
        </p:sp>
        <p:sp>
          <p:nvSpPr>
            <p:cNvPr name="TextBox 10" id="10"/>
            <p:cNvSpPr txBox="true"/>
            <p:nvPr/>
          </p:nvSpPr>
          <p:spPr>
            <a:xfrm>
              <a:off x="0" y="-28575"/>
              <a:ext cx="2180391" cy="1994557"/>
            </a:xfrm>
            <a:prstGeom prst="rect">
              <a:avLst/>
            </a:prstGeom>
          </p:spPr>
          <p:txBody>
            <a:bodyPr anchor="ctr" rtlCol="false" tIns="50800" lIns="50800" bIns="50800" rIns="50800"/>
            <a:lstStyle/>
            <a:p>
              <a:pPr algn="ctr">
                <a:lnSpc>
                  <a:spcPts val="2015"/>
                </a:lnSpc>
              </a:pPr>
            </a:p>
          </p:txBody>
        </p:sp>
      </p:grpSp>
      <p:sp>
        <p:nvSpPr>
          <p:cNvPr name="Freeform 11" id="11"/>
          <p:cNvSpPr/>
          <p:nvPr/>
        </p:nvSpPr>
        <p:spPr>
          <a:xfrm flipH="false" flipV="false" rot="0">
            <a:off x="9482266" y="3015192"/>
            <a:ext cx="7348679" cy="3618878"/>
          </a:xfrm>
          <a:custGeom>
            <a:avLst/>
            <a:gdLst/>
            <a:ahLst/>
            <a:cxnLst/>
            <a:rect r="r" b="b" t="t" l="l"/>
            <a:pathLst>
              <a:path h="3618878" w="7348679">
                <a:moveTo>
                  <a:pt x="0" y="0"/>
                </a:moveTo>
                <a:lnTo>
                  <a:pt x="7348679" y="0"/>
                </a:lnTo>
                <a:lnTo>
                  <a:pt x="7348679" y="3618877"/>
                </a:lnTo>
                <a:lnTo>
                  <a:pt x="0" y="3618877"/>
                </a:lnTo>
                <a:lnTo>
                  <a:pt x="0" y="0"/>
                </a:lnTo>
                <a:close/>
              </a:path>
            </a:pathLst>
          </a:custGeom>
          <a:blipFill>
            <a:blip r:embed="rId4"/>
            <a:stretch>
              <a:fillRect l="0" t="0" r="0" b="0"/>
            </a:stretch>
          </a:blipFill>
        </p:spPr>
      </p:sp>
      <p:sp>
        <p:nvSpPr>
          <p:cNvPr name="TextBox 12" id="12"/>
          <p:cNvSpPr txBox="true"/>
          <p:nvPr/>
        </p:nvSpPr>
        <p:spPr>
          <a:xfrm rot="0">
            <a:off x="987348" y="6223000"/>
            <a:ext cx="6867724" cy="3035300"/>
          </a:xfrm>
          <a:prstGeom prst="rect">
            <a:avLst/>
          </a:prstGeom>
        </p:spPr>
        <p:txBody>
          <a:bodyPr anchor="t" rtlCol="false" tIns="0" lIns="0" bIns="0" rIns="0">
            <a:spAutoFit/>
          </a:bodyPr>
          <a:lstStyle/>
          <a:p>
            <a:pPr algn="l" marL="474978" indent="-237489" lvl="1">
              <a:lnSpc>
                <a:spcPts val="3079"/>
              </a:lnSpc>
              <a:buFont typeface="Arial"/>
              <a:buChar char="•"/>
            </a:pPr>
            <a:r>
              <a:rPr lang="en-US" sz="2199" spc="-103">
                <a:solidFill>
                  <a:srgbClr val="424242"/>
                </a:solidFill>
                <a:latin typeface="Open Sauce"/>
                <a:ea typeface="Open Sauce"/>
                <a:cs typeface="Open Sauce"/>
                <a:sym typeface="Open Sauce"/>
              </a:rPr>
              <a:t>Energy stored in capacitors, C are </a:t>
            </a:r>
            <a:r>
              <a:rPr lang="en-US" b="true" sz="2199" spc="-103">
                <a:solidFill>
                  <a:srgbClr val="424242"/>
                </a:solidFill>
                <a:latin typeface="Open Sauce Bold"/>
                <a:ea typeface="Open Sauce Bold"/>
                <a:cs typeface="Open Sauce Bold"/>
                <a:sym typeface="Open Sauce Bold"/>
              </a:rPr>
              <a:t>charged</a:t>
            </a:r>
            <a:r>
              <a:rPr lang="en-US" sz="2199" spc="-103">
                <a:solidFill>
                  <a:srgbClr val="424242"/>
                </a:solidFill>
                <a:latin typeface="Open Sauce"/>
                <a:ea typeface="Open Sauce"/>
                <a:cs typeface="Open Sauce"/>
                <a:sym typeface="Open Sauce"/>
              </a:rPr>
              <a:t> in </a:t>
            </a:r>
            <a:r>
              <a:rPr lang="en-US" b="true" sz="2199" spc="-103">
                <a:solidFill>
                  <a:srgbClr val="424242"/>
                </a:solidFill>
                <a:latin typeface="Open Sauce Bold"/>
                <a:ea typeface="Open Sauce Bold"/>
                <a:cs typeface="Open Sauce Bold"/>
                <a:sym typeface="Open Sauce Bold"/>
              </a:rPr>
              <a:t>parallel</a:t>
            </a:r>
            <a:r>
              <a:rPr lang="en-US" sz="2199" spc="-103">
                <a:solidFill>
                  <a:srgbClr val="424242"/>
                </a:solidFill>
                <a:latin typeface="Open Sauce"/>
                <a:ea typeface="Open Sauce"/>
                <a:cs typeface="Open Sauce"/>
                <a:sym typeface="Open Sauce"/>
              </a:rPr>
              <a:t> to U_ch (volts).</a:t>
            </a:r>
          </a:p>
          <a:p>
            <a:pPr algn="l" marL="474978" indent="-237489" lvl="1">
              <a:lnSpc>
                <a:spcPts val="3079"/>
              </a:lnSpc>
              <a:buFont typeface="Arial"/>
              <a:buChar char="•"/>
            </a:pPr>
            <a:r>
              <a:rPr lang="en-US" sz="2199" spc="-103">
                <a:solidFill>
                  <a:srgbClr val="424242"/>
                </a:solidFill>
                <a:latin typeface="Open Sauce"/>
                <a:ea typeface="Open Sauce"/>
                <a:cs typeface="Open Sauce"/>
                <a:sym typeface="Open Sauce"/>
              </a:rPr>
              <a:t>When capacitors start discharging, spark gaps fire up, creating a </a:t>
            </a:r>
            <a:r>
              <a:rPr lang="en-US" b="true" sz="2199" spc="-103">
                <a:solidFill>
                  <a:srgbClr val="424242"/>
                </a:solidFill>
                <a:latin typeface="Open Sauce Bold"/>
                <a:ea typeface="Open Sauce Bold"/>
                <a:cs typeface="Open Sauce Bold"/>
                <a:sym typeface="Open Sauce Bold"/>
              </a:rPr>
              <a:t>series</a:t>
            </a:r>
            <a:r>
              <a:rPr lang="en-US" sz="2199" spc="-103">
                <a:solidFill>
                  <a:srgbClr val="424242"/>
                </a:solidFill>
                <a:latin typeface="Open Sauce"/>
                <a:ea typeface="Open Sauce"/>
                <a:cs typeface="Open Sauce"/>
                <a:sym typeface="Open Sauce"/>
              </a:rPr>
              <a:t> </a:t>
            </a:r>
            <a:r>
              <a:rPr lang="en-US" b="true" sz="2199" spc="-103">
                <a:solidFill>
                  <a:srgbClr val="424242"/>
                </a:solidFill>
                <a:latin typeface="Open Sauce Bold"/>
                <a:ea typeface="Open Sauce Bold"/>
                <a:cs typeface="Open Sauce Bold"/>
                <a:sym typeface="Open Sauce Bold"/>
              </a:rPr>
              <a:t>discharge</a:t>
            </a:r>
            <a:r>
              <a:rPr lang="en-US" sz="2199" spc="-103">
                <a:solidFill>
                  <a:srgbClr val="424242"/>
                </a:solidFill>
                <a:latin typeface="Open Sauce"/>
                <a:ea typeface="Open Sauce"/>
                <a:cs typeface="Open Sauce"/>
                <a:sym typeface="Open Sauce"/>
              </a:rPr>
              <a:t> arrangement.</a:t>
            </a:r>
          </a:p>
          <a:p>
            <a:pPr algn="l" marL="474978" indent="-237489" lvl="1">
              <a:lnSpc>
                <a:spcPts val="3079"/>
              </a:lnSpc>
              <a:buFont typeface="Arial"/>
              <a:buChar char="•"/>
            </a:pPr>
            <a:r>
              <a:rPr lang="en-US" sz="2199" spc="-103">
                <a:solidFill>
                  <a:srgbClr val="424242"/>
                </a:solidFill>
                <a:latin typeface="Open Sauce"/>
                <a:ea typeface="Open Sauce"/>
                <a:cs typeface="Open Sauce"/>
                <a:sym typeface="Open Sauce"/>
              </a:rPr>
              <a:t>If one stage capacitor discharges x volts, the final peak voltage on target would be x*n ideally, where n is number of stages.</a:t>
            </a:r>
          </a:p>
          <a:p>
            <a:pPr algn="l">
              <a:lnSpc>
                <a:spcPts val="2520"/>
              </a:lnSpc>
            </a:pPr>
          </a:p>
        </p:txBody>
      </p:sp>
      <p:sp>
        <p:nvSpPr>
          <p:cNvPr name="TextBox 13" id="13"/>
          <p:cNvSpPr txBox="true"/>
          <p:nvPr/>
        </p:nvSpPr>
        <p:spPr>
          <a:xfrm rot="0">
            <a:off x="713219" y="2174591"/>
            <a:ext cx="6885364" cy="755015"/>
          </a:xfrm>
          <a:prstGeom prst="rect">
            <a:avLst/>
          </a:prstGeom>
        </p:spPr>
        <p:txBody>
          <a:bodyPr anchor="t" rtlCol="false" tIns="0" lIns="0" bIns="0" rIns="0">
            <a:spAutoFit/>
          </a:bodyPr>
          <a:lstStyle/>
          <a:p>
            <a:pPr algn="ctr">
              <a:lnSpc>
                <a:spcPts val="6160"/>
              </a:lnSpc>
            </a:pPr>
            <a:r>
              <a:rPr lang="en-US" sz="4400" b="true">
                <a:solidFill>
                  <a:srgbClr val="424242"/>
                </a:solidFill>
                <a:latin typeface="Canva Sans 1 Bold"/>
                <a:ea typeface="Canva Sans 1 Bold"/>
                <a:cs typeface="Canva Sans 1 Bold"/>
                <a:sym typeface="Canva Sans 1 Bold"/>
              </a:rPr>
              <a:t>Marx generator circuit</a:t>
            </a:r>
          </a:p>
        </p:txBody>
      </p:sp>
      <p:sp>
        <p:nvSpPr>
          <p:cNvPr name="TextBox 14" id="14"/>
          <p:cNvSpPr txBox="true"/>
          <p:nvPr/>
        </p:nvSpPr>
        <p:spPr>
          <a:xfrm rot="0">
            <a:off x="9602505" y="6752215"/>
            <a:ext cx="7228440" cy="701674"/>
          </a:xfrm>
          <a:prstGeom prst="rect">
            <a:avLst/>
          </a:prstGeom>
        </p:spPr>
        <p:txBody>
          <a:bodyPr anchor="t" rtlCol="false" tIns="0" lIns="0" bIns="0" rIns="0">
            <a:spAutoFit/>
          </a:bodyPr>
          <a:lstStyle/>
          <a:p>
            <a:pPr algn="l">
              <a:lnSpc>
                <a:spcPts val="2800"/>
              </a:lnSpc>
            </a:pPr>
            <a:r>
              <a:rPr lang="en-US" sz="2000" b="true">
                <a:solidFill>
                  <a:srgbClr val="424242"/>
                </a:solidFill>
                <a:latin typeface="Canva Sans 1 Bold"/>
                <a:ea typeface="Canva Sans 1 Bold"/>
                <a:cs typeface="Canva Sans 1 Bold"/>
                <a:sym typeface="Canva Sans 1 Bold"/>
              </a:rPr>
              <a:t>Rf: front resistance - Lower the Rf, steeper the rising edge</a:t>
            </a:r>
          </a:p>
          <a:p>
            <a:pPr algn="l">
              <a:lnSpc>
                <a:spcPts val="2800"/>
              </a:lnSpc>
            </a:pPr>
            <a:r>
              <a:rPr lang="en-US" sz="2000" b="true">
                <a:solidFill>
                  <a:srgbClr val="424242"/>
                </a:solidFill>
                <a:latin typeface="Canva Sans 1 Bold"/>
                <a:ea typeface="Canva Sans 1 Bold"/>
                <a:cs typeface="Canva Sans 1 Bold"/>
                <a:sym typeface="Canva Sans 1 Bold"/>
              </a:rPr>
              <a:t>Rt: tail resistance - Higher Rt, makes impulse decay slowly</a:t>
            </a:r>
          </a:p>
        </p:txBody>
      </p:sp>
      <p:sp>
        <p:nvSpPr>
          <p:cNvPr name="TextBox 15" id="15"/>
          <p:cNvSpPr txBox="true"/>
          <p:nvPr/>
        </p:nvSpPr>
        <p:spPr>
          <a:xfrm rot="0">
            <a:off x="9144000" y="358594"/>
            <a:ext cx="8523628" cy="1417320"/>
          </a:xfrm>
          <a:prstGeom prst="rect">
            <a:avLst/>
          </a:prstGeom>
        </p:spPr>
        <p:txBody>
          <a:bodyPr anchor="t" rtlCol="false" tIns="0" lIns="0" bIns="0" rIns="0">
            <a:spAutoFit/>
          </a:bodyPr>
          <a:lstStyle/>
          <a:p>
            <a:pPr algn="ctr">
              <a:lnSpc>
                <a:spcPts val="3780"/>
              </a:lnSpc>
            </a:pPr>
            <a:r>
              <a:rPr lang="en-US" sz="2700" b="true">
                <a:solidFill>
                  <a:srgbClr val="416396"/>
                </a:solidFill>
                <a:latin typeface="Canva Sans 1 Bold"/>
                <a:ea typeface="Canva Sans 1 Bold"/>
                <a:cs typeface="Canva Sans 1 Bold"/>
                <a:sym typeface="Canva Sans 1 Bold"/>
              </a:rPr>
              <a:t>We can’t summon lightning on demand, so we recreate the high voltage conditions using a marx circuit</a:t>
            </a:r>
          </a:p>
        </p:txBody>
      </p:sp>
      <p:sp>
        <p:nvSpPr>
          <p:cNvPr name="TextBox 16" id="16"/>
          <p:cNvSpPr txBox="true"/>
          <p:nvPr/>
        </p:nvSpPr>
        <p:spPr>
          <a:xfrm rot="0">
            <a:off x="9363626" y="2094406"/>
            <a:ext cx="6885364" cy="755015"/>
          </a:xfrm>
          <a:prstGeom prst="rect">
            <a:avLst/>
          </a:prstGeom>
        </p:spPr>
        <p:txBody>
          <a:bodyPr anchor="t" rtlCol="false" tIns="0" lIns="0" bIns="0" rIns="0">
            <a:spAutoFit/>
          </a:bodyPr>
          <a:lstStyle/>
          <a:p>
            <a:pPr algn="ctr">
              <a:lnSpc>
                <a:spcPts val="6160"/>
              </a:lnSpc>
            </a:pPr>
            <a:r>
              <a:rPr lang="en-US" sz="4400" b="true">
                <a:solidFill>
                  <a:srgbClr val="424242"/>
                </a:solidFill>
                <a:latin typeface="Canva Sans 1 Bold"/>
                <a:ea typeface="Canva Sans 1 Bold"/>
                <a:cs typeface="Canva Sans 1 Bold"/>
                <a:sym typeface="Canva Sans 1 Bold"/>
              </a:rPr>
              <a:t>Impulse V-t graph</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424242"/>
        </a:solidFill>
      </p:bgPr>
    </p:bg>
    <p:spTree>
      <p:nvGrpSpPr>
        <p:cNvPr id="1" name=""/>
        <p:cNvGrpSpPr/>
        <p:nvPr/>
      </p:nvGrpSpPr>
      <p:grpSpPr>
        <a:xfrm>
          <a:off x="0" y="0"/>
          <a:ext cx="0" cy="0"/>
          <a:chOff x="0" y="0"/>
          <a:chExt cx="0" cy="0"/>
        </a:xfrm>
      </p:grpSpPr>
      <p:sp>
        <p:nvSpPr>
          <p:cNvPr name="Freeform 2" id="2"/>
          <p:cNvSpPr/>
          <p:nvPr/>
        </p:nvSpPr>
        <p:spPr>
          <a:xfrm flipH="false" flipV="false" rot="-713623">
            <a:off x="6346841" y="-1712143"/>
            <a:ext cx="14118808" cy="9138719"/>
          </a:xfrm>
          <a:custGeom>
            <a:avLst/>
            <a:gdLst/>
            <a:ahLst/>
            <a:cxnLst/>
            <a:rect r="r" b="b" t="t" l="l"/>
            <a:pathLst>
              <a:path h="9138719" w="14118808">
                <a:moveTo>
                  <a:pt x="0" y="0"/>
                </a:moveTo>
                <a:lnTo>
                  <a:pt x="14118808" y="0"/>
                </a:lnTo>
                <a:lnTo>
                  <a:pt x="14118808" y="9138719"/>
                </a:lnTo>
                <a:lnTo>
                  <a:pt x="0" y="9138719"/>
                </a:lnTo>
                <a:lnTo>
                  <a:pt x="0" y="0"/>
                </a:lnTo>
                <a:close/>
              </a:path>
            </a:pathLst>
          </a:custGeom>
          <a:blipFill>
            <a:blip r:embed="rId2">
              <a:alphaModFix amt="20999"/>
            </a:blip>
            <a:stretch>
              <a:fillRect l="0" t="0" r="0" b="0"/>
            </a:stretch>
          </a:blipFill>
        </p:spPr>
      </p:sp>
      <p:grpSp>
        <p:nvGrpSpPr>
          <p:cNvPr name="Group 3" id="3"/>
          <p:cNvGrpSpPr/>
          <p:nvPr/>
        </p:nvGrpSpPr>
        <p:grpSpPr>
          <a:xfrm rot="0">
            <a:off x="1752806" y="4151634"/>
            <a:ext cx="6395773" cy="4631767"/>
            <a:chOff x="0" y="0"/>
            <a:chExt cx="1684483" cy="1219889"/>
          </a:xfrm>
        </p:grpSpPr>
        <p:sp>
          <p:nvSpPr>
            <p:cNvPr name="Freeform 4" id="4"/>
            <p:cNvSpPr/>
            <p:nvPr/>
          </p:nvSpPr>
          <p:spPr>
            <a:xfrm flipH="false" flipV="false" rot="0">
              <a:off x="0" y="0"/>
              <a:ext cx="1684483" cy="1219889"/>
            </a:xfrm>
            <a:custGeom>
              <a:avLst/>
              <a:gdLst/>
              <a:ahLst/>
              <a:cxnLst/>
              <a:rect r="r" b="b" t="t" l="l"/>
              <a:pathLst>
                <a:path h="1219889" w="1684483">
                  <a:moveTo>
                    <a:pt x="96838" y="0"/>
                  </a:moveTo>
                  <a:lnTo>
                    <a:pt x="1587645" y="0"/>
                  </a:lnTo>
                  <a:cubicBezTo>
                    <a:pt x="1613328" y="0"/>
                    <a:pt x="1637960" y="10203"/>
                    <a:pt x="1656120" y="28363"/>
                  </a:cubicBezTo>
                  <a:cubicBezTo>
                    <a:pt x="1674281" y="46524"/>
                    <a:pt x="1684483" y="71155"/>
                    <a:pt x="1684483" y="96838"/>
                  </a:cubicBezTo>
                  <a:lnTo>
                    <a:pt x="1684483" y="1123051"/>
                  </a:lnTo>
                  <a:cubicBezTo>
                    <a:pt x="1684483" y="1176534"/>
                    <a:pt x="1641128" y="1219889"/>
                    <a:pt x="1587645" y="1219889"/>
                  </a:cubicBezTo>
                  <a:lnTo>
                    <a:pt x="96838" y="1219889"/>
                  </a:lnTo>
                  <a:cubicBezTo>
                    <a:pt x="71155" y="1219889"/>
                    <a:pt x="46524" y="1209687"/>
                    <a:pt x="28363" y="1191526"/>
                  </a:cubicBezTo>
                  <a:cubicBezTo>
                    <a:pt x="10203" y="1173366"/>
                    <a:pt x="0" y="1148734"/>
                    <a:pt x="0" y="1123051"/>
                  </a:cubicBezTo>
                  <a:lnTo>
                    <a:pt x="0" y="96838"/>
                  </a:lnTo>
                  <a:cubicBezTo>
                    <a:pt x="0" y="71155"/>
                    <a:pt x="10203" y="46524"/>
                    <a:pt x="28363" y="28363"/>
                  </a:cubicBezTo>
                  <a:cubicBezTo>
                    <a:pt x="46524" y="10203"/>
                    <a:pt x="71155" y="0"/>
                    <a:pt x="96838" y="0"/>
                  </a:cubicBezTo>
                  <a:close/>
                </a:path>
              </a:pathLst>
            </a:custGeom>
            <a:solidFill>
              <a:srgbClr val="424242"/>
            </a:solidFill>
            <a:ln w="19050" cap="rnd">
              <a:solidFill>
                <a:srgbClr val="D0D7DD"/>
              </a:solidFill>
              <a:prstDash val="solid"/>
              <a:round/>
            </a:ln>
          </p:spPr>
        </p:sp>
        <p:sp>
          <p:nvSpPr>
            <p:cNvPr name="TextBox 5" id="5"/>
            <p:cNvSpPr txBox="true"/>
            <p:nvPr/>
          </p:nvSpPr>
          <p:spPr>
            <a:xfrm>
              <a:off x="0" y="-28575"/>
              <a:ext cx="1684483" cy="1248464"/>
            </a:xfrm>
            <a:prstGeom prst="rect">
              <a:avLst/>
            </a:prstGeom>
          </p:spPr>
          <p:txBody>
            <a:bodyPr anchor="ctr" rtlCol="false" tIns="50800" lIns="50800" bIns="50800" rIns="50800"/>
            <a:lstStyle/>
            <a:p>
              <a:pPr algn="ctr">
                <a:lnSpc>
                  <a:spcPts val="2015"/>
                </a:lnSpc>
              </a:pPr>
            </a:p>
          </p:txBody>
        </p:sp>
      </p:grpSp>
      <p:sp>
        <p:nvSpPr>
          <p:cNvPr name="Freeform 6" id="6"/>
          <p:cNvSpPr/>
          <p:nvPr/>
        </p:nvSpPr>
        <p:spPr>
          <a:xfrm flipH="false" flipV="false" rot="0">
            <a:off x="2644179" y="6423755"/>
            <a:ext cx="4290252" cy="2063251"/>
          </a:xfrm>
          <a:custGeom>
            <a:avLst/>
            <a:gdLst/>
            <a:ahLst/>
            <a:cxnLst/>
            <a:rect r="r" b="b" t="t" l="l"/>
            <a:pathLst>
              <a:path h="2063251" w="4290252">
                <a:moveTo>
                  <a:pt x="0" y="0"/>
                </a:moveTo>
                <a:lnTo>
                  <a:pt x="4290251" y="0"/>
                </a:lnTo>
                <a:lnTo>
                  <a:pt x="4290251" y="2063250"/>
                </a:lnTo>
                <a:lnTo>
                  <a:pt x="0" y="2063250"/>
                </a:lnTo>
                <a:lnTo>
                  <a:pt x="0" y="0"/>
                </a:lnTo>
                <a:close/>
              </a:path>
            </a:pathLst>
          </a:custGeom>
          <a:blipFill>
            <a:blip r:embed="rId3"/>
            <a:stretch>
              <a:fillRect l="0" t="0" r="0" b="0"/>
            </a:stretch>
          </a:blipFill>
        </p:spPr>
      </p:sp>
      <p:sp>
        <p:nvSpPr>
          <p:cNvPr name="TextBox 7" id="7"/>
          <p:cNvSpPr txBox="true"/>
          <p:nvPr/>
        </p:nvSpPr>
        <p:spPr>
          <a:xfrm rot="0">
            <a:off x="1028700" y="998160"/>
            <a:ext cx="16230600" cy="1273174"/>
          </a:xfrm>
          <a:prstGeom prst="rect">
            <a:avLst/>
          </a:prstGeom>
        </p:spPr>
        <p:txBody>
          <a:bodyPr anchor="t" rtlCol="false" tIns="0" lIns="0" bIns="0" rIns="0">
            <a:spAutoFit/>
          </a:bodyPr>
          <a:lstStyle/>
          <a:p>
            <a:pPr algn="l">
              <a:lnSpc>
                <a:spcPts val="9399"/>
              </a:lnSpc>
            </a:pPr>
            <a:r>
              <a:rPr lang="en-US" sz="9999" spc="-469" b="true">
                <a:solidFill>
                  <a:srgbClr val="FFFFFF"/>
                </a:solidFill>
                <a:latin typeface="Open Sauce Heavy"/>
                <a:ea typeface="Open Sauce Heavy"/>
                <a:cs typeface="Open Sauce Heavy"/>
                <a:sym typeface="Open Sauce Heavy"/>
              </a:rPr>
              <a:t>Problems </a:t>
            </a:r>
          </a:p>
        </p:txBody>
      </p:sp>
      <p:sp>
        <p:nvSpPr>
          <p:cNvPr name="TextBox 8" id="8"/>
          <p:cNvSpPr txBox="true"/>
          <p:nvPr/>
        </p:nvSpPr>
        <p:spPr>
          <a:xfrm rot="0">
            <a:off x="1085849" y="2533684"/>
            <a:ext cx="7729686" cy="580390"/>
          </a:xfrm>
          <a:prstGeom prst="rect">
            <a:avLst/>
          </a:prstGeom>
        </p:spPr>
        <p:txBody>
          <a:bodyPr anchor="t" rtlCol="false" tIns="0" lIns="0" bIns="0" rIns="0">
            <a:spAutoFit/>
          </a:bodyPr>
          <a:lstStyle/>
          <a:p>
            <a:pPr algn="ctr">
              <a:lnSpc>
                <a:spcPts val="4759"/>
              </a:lnSpc>
            </a:pPr>
            <a:r>
              <a:rPr lang="en-US" sz="3399" b="true">
                <a:solidFill>
                  <a:srgbClr val="FFFFFF"/>
                </a:solidFill>
                <a:latin typeface="Canva Sans 1 Bold"/>
                <a:ea typeface="Canva Sans 1 Bold"/>
                <a:cs typeface="Canva Sans 1 Bold"/>
                <a:sym typeface="Canva Sans 1 Bold"/>
              </a:rPr>
              <a:t>There are 2 problems engineers face:</a:t>
            </a:r>
          </a:p>
        </p:txBody>
      </p:sp>
      <p:sp>
        <p:nvSpPr>
          <p:cNvPr name="TextBox 9" id="9"/>
          <p:cNvSpPr txBox="true"/>
          <p:nvPr/>
        </p:nvSpPr>
        <p:spPr>
          <a:xfrm rot="0">
            <a:off x="3726209" y="4356146"/>
            <a:ext cx="2448967" cy="580390"/>
          </a:xfrm>
          <a:prstGeom prst="rect">
            <a:avLst/>
          </a:prstGeom>
        </p:spPr>
        <p:txBody>
          <a:bodyPr anchor="t" rtlCol="false" tIns="0" lIns="0" bIns="0" rIns="0">
            <a:spAutoFit/>
          </a:bodyPr>
          <a:lstStyle/>
          <a:p>
            <a:pPr algn="ctr">
              <a:lnSpc>
                <a:spcPts val="4759"/>
              </a:lnSpc>
            </a:pPr>
            <a:r>
              <a:rPr lang="en-US" sz="3399" b="true">
                <a:solidFill>
                  <a:srgbClr val="FFBD59"/>
                </a:solidFill>
                <a:latin typeface="Canva Sans 1 Bold"/>
                <a:ea typeface="Canva Sans 1 Bold"/>
                <a:cs typeface="Canva Sans 1 Bold"/>
                <a:sym typeface="Canva Sans 1 Bold"/>
              </a:rPr>
              <a:t>PROBLEM 1</a:t>
            </a:r>
          </a:p>
        </p:txBody>
      </p:sp>
      <p:sp>
        <p:nvSpPr>
          <p:cNvPr name="TextBox 10" id="10"/>
          <p:cNvSpPr txBox="true"/>
          <p:nvPr/>
        </p:nvSpPr>
        <p:spPr>
          <a:xfrm rot="0">
            <a:off x="2428338" y="5086350"/>
            <a:ext cx="6256651" cy="1471930"/>
          </a:xfrm>
          <a:prstGeom prst="rect">
            <a:avLst/>
          </a:prstGeom>
        </p:spPr>
        <p:txBody>
          <a:bodyPr anchor="t" rtlCol="false" tIns="0" lIns="0" bIns="0" rIns="0">
            <a:spAutoFit/>
          </a:bodyPr>
          <a:lstStyle/>
          <a:p>
            <a:pPr algn="l">
              <a:lnSpc>
                <a:spcPts val="3920"/>
              </a:lnSpc>
            </a:pPr>
            <a:r>
              <a:rPr lang="en-US" sz="2800" b="true">
                <a:solidFill>
                  <a:srgbClr val="FFFFFF"/>
                </a:solidFill>
                <a:latin typeface="Canva Sans 1 Bold"/>
                <a:ea typeface="Canva Sans 1 Bold"/>
                <a:cs typeface="Canva Sans 1 Bold"/>
                <a:sym typeface="Canva Sans 1 Bold"/>
              </a:rPr>
              <a:t>Finding the right circuit configuration:</a:t>
            </a:r>
          </a:p>
          <a:p>
            <a:pPr algn="l">
              <a:lnSpc>
                <a:spcPts val="3920"/>
              </a:lnSpc>
            </a:pPr>
          </a:p>
        </p:txBody>
      </p:sp>
      <p:grpSp>
        <p:nvGrpSpPr>
          <p:cNvPr name="Group 11" id="11"/>
          <p:cNvGrpSpPr/>
          <p:nvPr/>
        </p:nvGrpSpPr>
        <p:grpSpPr>
          <a:xfrm rot="0">
            <a:off x="10621623" y="4107871"/>
            <a:ext cx="6395773" cy="4631767"/>
            <a:chOff x="0" y="0"/>
            <a:chExt cx="1684483" cy="1219889"/>
          </a:xfrm>
        </p:grpSpPr>
        <p:sp>
          <p:nvSpPr>
            <p:cNvPr name="Freeform 12" id="12"/>
            <p:cNvSpPr/>
            <p:nvPr/>
          </p:nvSpPr>
          <p:spPr>
            <a:xfrm flipH="false" flipV="false" rot="0">
              <a:off x="0" y="0"/>
              <a:ext cx="1684483" cy="1219889"/>
            </a:xfrm>
            <a:custGeom>
              <a:avLst/>
              <a:gdLst/>
              <a:ahLst/>
              <a:cxnLst/>
              <a:rect r="r" b="b" t="t" l="l"/>
              <a:pathLst>
                <a:path h="1219889" w="1684483">
                  <a:moveTo>
                    <a:pt x="96838" y="0"/>
                  </a:moveTo>
                  <a:lnTo>
                    <a:pt x="1587645" y="0"/>
                  </a:lnTo>
                  <a:cubicBezTo>
                    <a:pt x="1613328" y="0"/>
                    <a:pt x="1637960" y="10203"/>
                    <a:pt x="1656120" y="28363"/>
                  </a:cubicBezTo>
                  <a:cubicBezTo>
                    <a:pt x="1674281" y="46524"/>
                    <a:pt x="1684483" y="71155"/>
                    <a:pt x="1684483" y="96838"/>
                  </a:cubicBezTo>
                  <a:lnTo>
                    <a:pt x="1684483" y="1123051"/>
                  </a:lnTo>
                  <a:cubicBezTo>
                    <a:pt x="1684483" y="1176534"/>
                    <a:pt x="1641128" y="1219889"/>
                    <a:pt x="1587645" y="1219889"/>
                  </a:cubicBezTo>
                  <a:lnTo>
                    <a:pt x="96838" y="1219889"/>
                  </a:lnTo>
                  <a:cubicBezTo>
                    <a:pt x="71155" y="1219889"/>
                    <a:pt x="46524" y="1209687"/>
                    <a:pt x="28363" y="1191526"/>
                  </a:cubicBezTo>
                  <a:cubicBezTo>
                    <a:pt x="10203" y="1173366"/>
                    <a:pt x="0" y="1148734"/>
                    <a:pt x="0" y="1123051"/>
                  </a:cubicBezTo>
                  <a:lnTo>
                    <a:pt x="0" y="96838"/>
                  </a:lnTo>
                  <a:cubicBezTo>
                    <a:pt x="0" y="71155"/>
                    <a:pt x="10203" y="46524"/>
                    <a:pt x="28363" y="28363"/>
                  </a:cubicBezTo>
                  <a:cubicBezTo>
                    <a:pt x="46524" y="10203"/>
                    <a:pt x="71155" y="0"/>
                    <a:pt x="96838" y="0"/>
                  </a:cubicBezTo>
                  <a:close/>
                </a:path>
              </a:pathLst>
            </a:custGeom>
            <a:solidFill>
              <a:srgbClr val="424242"/>
            </a:solidFill>
            <a:ln w="19050" cap="rnd">
              <a:solidFill>
                <a:srgbClr val="D0D7DD"/>
              </a:solidFill>
              <a:prstDash val="solid"/>
              <a:round/>
            </a:ln>
          </p:spPr>
        </p:sp>
        <p:sp>
          <p:nvSpPr>
            <p:cNvPr name="TextBox 13" id="13"/>
            <p:cNvSpPr txBox="true"/>
            <p:nvPr/>
          </p:nvSpPr>
          <p:spPr>
            <a:xfrm>
              <a:off x="0" y="-28575"/>
              <a:ext cx="1684483" cy="1248464"/>
            </a:xfrm>
            <a:prstGeom prst="rect">
              <a:avLst/>
            </a:prstGeom>
          </p:spPr>
          <p:txBody>
            <a:bodyPr anchor="ctr" rtlCol="false" tIns="50800" lIns="50800" bIns="50800" rIns="50800"/>
            <a:lstStyle/>
            <a:p>
              <a:pPr algn="ctr">
                <a:lnSpc>
                  <a:spcPts val="2015"/>
                </a:lnSpc>
              </a:pPr>
            </a:p>
          </p:txBody>
        </p:sp>
      </p:grpSp>
      <p:sp>
        <p:nvSpPr>
          <p:cNvPr name="TextBox 14" id="14"/>
          <p:cNvSpPr txBox="true"/>
          <p:nvPr/>
        </p:nvSpPr>
        <p:spPr>
          <a:xfrm rot="0">
            <a:off x="12175213" y="4356146"/>
            <a:ext cx="2462064" cy="580390"/>
          </a:xfrm>
          <a:prstGeom prst="rect">
            <a:avLst/>
          </a:prstGeom>
        </p:spPr>
        <p:txBody>
          <a:bodyPr anchor="t" rtlCol="false" tIns="0" lIns="0" bIns="0" rIns="0">
            <a:spAutoFit/>
          </a:bodyPr>
          <a:lstStyle/>
          <a:p>
            <a:pPr algn="ctr">
              <a:lnSpc>
                <a:spcPts val="4759"/>
              </a:lnSpc>
            </a:pPr>
            <a:r>
              <a:rPr lang="en-US" sz="3399" b="true">
                <a:solidFill>
                  <a:srgbClr val="FFBD59"/>
                </a:solidFill>
                <a:latin typeface="Canva Sans 1 Bold"/>
                <a:ea typeface="Canva Sans 1 Bold"/>
                <a:cs typeface="Canva Sans 1 Bold"/>
                <a:sym typeface="Canva Sans 1 Bold"/>
              </a:rPr>
              <a:t>PROBLEM 2</a:t>
            </a:r>
          </a:p>
        </p:txBody>
      </p:sp>
      <p:sp>
        <p:nvSpPr>
          <p:cNvPr name="TextBox 15" id="15"/>
          <p:cNvSpPr txBox="true"/>
          <p:nvPr/>
        </p:nvSpPr>
        <p:spPr>
          <a:xfrm rot="0">
            <a:off x="10869661" y="5033876"/>
            <a:ext cx="6147734" cy="3453130"/>
          </a:xfrm>
          <a:prstGeom prst="rect">
            <a:avLst/>
          </a:prstGeom>
        </p:spPr>
        <p:txBody>
          <a:bodyPr anchor="t" rtlCol="false" tIns="0" lIns="0" bIns="0" rIns="0">
            <a:spAutoFit/>
          </a:bodyPr>
          <a:lstStyle/>
          <a:p>
            <a:pPr algn="l">
              <a:lnSpc>
                <a:spcPts val="3920"/>
              </a:lnSpc>
            </a:pPr>
            <a:r>
              <a:rPr lang="en-US" sz="2800" b="true">
                <a:solidFill>
                  <a:srgbClr val="FFFFFF"/>
                </a:solidFill>
                <a:latin typeface="Canva Sans 1 Bold"/>
                <a:ea typeface="Canva Sans 1 Bold"/>
                <a:cs typeface="Canva Sans 1 Bold"/>
                <a:sym typeface="Canva Sans 1 Bold"/>
              </a:rPr>
              <a:t>Physics calculations don’t account the effect of real life conditions.</a:t>
            </a:r>
          </a:p>
          <a:p>
            <a:pPr algn="l">
              <a:lnSpc>
                <a:spcPts val="3920"/>
              </a:lnSpc>
            </a:pPr>
          </a:p>
          <a:p>
            <a:pPr algn="l">
              <a:lnSpc>
                <a:spcPts val="3920"/>
              </a:lnSpc>
            </a:pPr>
            <a:r>
              <a:rPr lang="en-US" sz="2800" b="true">
                <a:solidFill>
                  <a:srgbClr val="FFFFFF"/>
                </a:solidFill>
                <a:latin typeface="Canva Sans 1 Bold"/>
                <a:ea typeface="Canva Sans 1 Bold"/>
                <a:cs typeface="Canva Sans 1 Bold"/>
                <a:sym typeface="Canva Sans 1 Bold"/>
              </a:rPr>
              <a:t>Your physics model may give you the configuration to achieve 1400kV, but in real life, 1450kV might be generated.</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D0D7DD"/>
        </a:solidFill>
      </p:bgPr>
    </p:bg>
    <p:spTree>
      <p:nvGrpSpPr>
        <p:cNvPr id="1" name=""/>
        <p:cNvGrpSpPr/>
        <p:nvPr/>
      </p:nvGrpSpPr>
      <p:grpSpPr>
        <a:xfrm>
          <a:off x="0" y="0"/>
          <a:ext cx="0" cy="0"/>
          <a:chOff x="0" y="0"/>
          <a:chExt cx="0" cy="0"/>
        </a:xfrm>
      </p:grpSpPr>
      <p:sp>
        <p:nvSpPr>
          <p:cNvPr name="Freeform 2" id="2"/>
          <p:cNvSpPr/>
          <p:nvPr/>
        </p:nvSpPr>
        <p:spPr>
          <a:xfrm flipH="false" flipV="false" rot="0">
            <a:off x="-1444323" y="4944233"/>
            <a:ext cx="12249089" cy="7928501"/>
          </a:xfrm>
          <a:custGeom>
            <a:avLst/>
            <a:gdLst/>
            <a:ahLst/>
            <a:cxnLst/>
            <a:rect r="r" b="b" t="t" l="l"/>
            <a:pathLst>
              <a:path h="7928501" w="12249089">
                <a:moveTo>
                  <a:pt x="0" y="0"/>
                </a:moveTo>
                <a:lnTo>
                  <a:pt x="12249089" y="0"/>
                </a:lnTo>
                <a:lnTo>
                  <a:pt x="12249089" y="7928502"/>
                </a:lnTo>
                <a:lnTo>
                  <a:pt x="0" y="7928502"/>
                </a:lnTo>
                <a:lnTo>
                  <a:pt x="0" y="0"/>
                </a:lnTo>
                <a:close/>
              </a:path>
            </a:pathLst>
          </a:custGeom>
          <a:blipFill>
            <a:blip r:embed="rId2">
              <a:alphaModFix amt="40000"/>
            </a:blip>
            <a:stretch>
              <a:fillRect l="0" t="0" r="0" b="0"/>
            </a:stretch>
          </a:blipFill>
        </p:spPr>
      </p:sp>
      <p:sp>
        <p:nvSpPr>
          <p:cNvPr name="Freeform 3" id="3"/>
          <p:cNvSpPr/>
          <p:nvPr/>
        </p:nvSpPr>
        <p:spPr>
          <a:xfrm flipH="false" flipV="false" rot="-1900831">
            <a:off x="13078361" y="-1115688"/>
            <a:ext cx="8178189" cy="6051860"/>
          </a:xfrm>
          <a:custGeom>
            <a:avLst/>
            <a:gdLst/>
            <a:ahLst/>
            <a:cxnLst/>
            <a:rect r="r" b="b" t="t" l="l"/>
            <a:pathLst>
              <a:path h="6051860" w="8178189">
                <a:moveTo>
                  <a:pt x="0" y="0"/>
                </a:moveTo>
                <a:lnTo>
                  <a:pt x="8178189" y="0"/>
                </a:lnTo>
                <a:lnTo>
                  <a:pt x="8178189" y="6051859"/>
                </a:lnTo>
                <a:lnTo>
                  <a:pt x="0" y="6051859"/>
                </a:lnTo>
                <a:lnTo>
                  <a:pt x="0" y="0"/>
                </a:lnTo>
                <a:close/>
              </a:path>
            </a:pathLst>
          </a:custGeom>
          <a:blipFill>
            <a:blip r:embed="rId3"/>
            <a:stretch>
              <a:fillRect l="0" t="0" r="0" b="0"/>
            </a:stretch>
          </a:blipFill>
        </p:spPr>
      </p:sp>
      <p:sp>
        <p:nvSpPr>
          <p:cNvPr name="TextBox 4" id="4"/>
          <p:cNvSpPr txBox="true"/>
          <p:nvPr/>
        </p:nvSpPr>
        <p:spPr>
          <a:xfrm rot="0">
            <a:off x="1168780" y="2648748"/>
            <a:ext cx="15148159" cy="7310872"/>
          </a:xfrm>
          <a:prstGeom prst="rect">
            <a:avLst/>
          </a:prstGeom>
        </p:spPr>
        <p:txBody>
          <a:bodyPr anchor="t" rtlCol="false" tIns="0" lIns="0" bIns="0" rIns="0">
            <a:spAutoFit/>
          </a:bodyPr>
          <a:lstStyle/>
          <a:p>
            <a:pPr algn="just" marL="662374" indent="-331187" lvl="1">
              <a:lnSpc>
                <a:spcPts val="3865"/>
              </a:lnSpc>
              <a:buFont typeface="Arial"/>
              <a:buChar char="•"/>
            </a:pPr>
            <a:r>
              <a:rPr lang="en-US" b="true" sz="3067" spc="-171">
                <a:solidFill>
                  <a:srgbClr val="424242"/>
                </a:solidFill>
                <a:latin typeface="Poppins Bold"/>
                <a:ea typeface="Poppins Bold"/>
                <a:cs typeface="Poppins Bold"/>
                <a:sym typeface="Poppins Bold"/>
              </a:rPr>
              <a:t>Complete oil filling, impregnation and the prescribed settling period.</a:t>
            </a:r>
          </a:p>
          <a:p>
            <a:pPr algn="just">
              <a:lnSpc>
                <a:spcPts val="3865"/>
              </a:lnSpc>
            </a:pPr>
          </a:p>
          <a:p>
            <a:pPr algn="just" marL="662374" indent="-331187" lvl="1">
              <a:lnSpc>
                <a:spcPts val="3865"/>
              </a:lnSpc>
              <a:buFont typeface="Arial"/>
              <a:buChar char="•"/>
            </a:pPr>
            <a:r>
              <a:rPr lang="en-US" b="true" sz="3067" spc="-171">
                <a:solidFill>
                  <a:srgbClr val="424242"/>
                </a:solidFill>
                <a:latin typeface="Poppins Bold"/>
                <a:ea typeface="Poppins Bold"/>
                <a:cs typeface="Poppins Bold"/>
                <a:sym typeface="Poppins Bold"/>
              </a:rPr>
              <a:t>Test oil BDV and moisture; collect a baseline DGA sample.</a:t>
            </a:r>
          </a:p>
          <a:p>
            <a:pPr algn="just">
              <a:lnSpc>
                <a:spcPts val="3865"/>
              </a:lnSpc>
            </a:pPr>
          </a:p>
          <a:p>
            <a:pPr algn="just" marL="662374" indent="-331187" lvl="1">
              <a:lnSpc>
                <a:spcPts val="3865"/>
              </a:lnSpc>
              <a:buFont typeface="Arial"/>
              <a:buChar char="•"/>
            </a:pPr>
            <a:r>
              <a:rPr lang="en-US" b="true" sz="3067" spc="-171">
                <a:solidFill>
                  <a:srgbClr val="424242"/>
                </a:solidFill>
                <a:latin typeface="Poppins Bold"/>
                <a:ea typeface="Poppins Bold"/>
                <a:cs typeface="Poppins Bold"/>
                <a:sym typeface="Poppins Bold"/>
              </a:rPr>
              <a:t>Measure HV–LV, HV–earth and LV–earth insulation resistance/PI.</a:t>
            </a:r>
          </a:p>
          <a:p>
            <a:pPr algn="just">
              <a:lnSpc>
                <a:spcPts val="3865"/>
              </a:lnSpc>
            </a:pPr>
          </a:p>
          <a:p>
            <a:pPr algn="just" marL="662374" indent="-331187" lvl="1">
              <a:lnSpc>
                <a:spcPts val="3865"/>
              </a:lnSpc>
              <a:buFont typeface="Arial"/>
              <a:buChar char="•"/>
            </a:pPr>
            <a:r>
              <a:rPr lang="en-US" b="true" sz="3067" spc="-171">
                <a:solidFill>
                  <a:srgbClr val="424242"/>
                </a:solidFill>
                <a:latin typeface="Poppins Bold"/>
                <a:ea typeface="Poppins Bold"/>
                <a:cs typeface="Poppins Bold"/>
                <a:sym typeface="Poppins Bold"/>
              </a:rPr>
              <a:t>Measure winding and bushing capacitance/tan δ at approved test voltages.</a:t>
            </a:r>
          </a:p>
          <a:p>
            <a:pPr algn="just">
              <a:lnSpc>
                <a:spcPts val="3865"/>
              </a:lnSpc>
            </a:pPr>
          </a:p>
          <a:p>
            <a:pPr algn="just" marL="662374" indent="-331187" lvl="1">
              <a:lnSpc>
                <a:spcPts val="3865"/>
              </a:lnSpc>
              <a:buFont typeface="Arial"/>
              <a:buChar char="•"/>
            </a:pPr>
            <a:r>
              <a:rPr lang="en-US" b="true" sz="3067" spc="-171">
                <a:solidFill>
                  <a:srgbClr val="424242"/>
                </a:solidFill>
                <a:latin typeface="Poppins Bold"/>
                <a:ea typeface="Poppins Bold"/>
                <a:cs typeface="Poppins Bold"/>
                <a:sym typeface="Poppins Bold"/>
              </a:rPr>
              <a:t>Verify winding resistance, turns ratio, vector group and selected tap.</a:t>
            </a:r>
          </a:p>
          <a:p>
            <a:pPr algn="just">
              <a:lnSpc>
                <a:spcPts val="3865"/>
              </a:lnSpc>
            </a:pPr>
          </a:p>
          <a:p>
            <a:pPr algn="just" marL="662374" indent="-331187" lvl="1">
              <a:lnSpc>
                <a:spcPts val="3865"/>
              </a:lnSpc>
              <a:buFont typeface="Arial"/>
              <a:buChar char="•"/>
            </a:pPr>
            <a:r>
              <a:rPr lang="en-US" b="true" sz="3067" spc="-171">
                <a:solidFill>
                  <a:srgbClr val="424242"/>
                </a:solidFill>
                <a:latin typeface="Poppins Bold"/>
                <a:ea typeface="Poppins Bold"/>
                <a:cs typeface="Poppins Bold"/>
                <a:sym typeface="Poppins Bold"/>
              </a:rPr>
              <a:t>Record SFRA, excitation current and magnetic balance where required.</a:t>
            </a:r>
          </a:p>
          <a:p>
            <a:pPr algn="just">
              <a:lnSpc>
                <a:spcPts val="3865"/>
              </a:lnSpc>
            </a:pPr>
          </a:p>
          <a:p>
            <a:pPr algn="just" marL="662374" indent="-331187" lvl="1">
              <a:lnSpc>
                <a:spcPts val="3865"/>
              </a:lnSpc>
              <a:buFont typeface="Arial"/>
              <a:buChar char="•"/>
            </a:pPr>
            <a:r>
              <a:rPr lang="en-US" b="true" sz="3067" spc="-171">
                <a:solidFill>
                  <a:srgbClr val="424242"/>
                </a:solidFill>
                <a:latin typeface="Poppins Bold"/>
                <a:ea typeface="Poppins Bold"/>
                <a:cs typeface="Poppins Bold"/>
                <a:sym typeface="Poppins Bold"/>
              </a:rPr>
              <a:t>Connect the tested terminal, neutral and untested windings as specified.</a:t>
            </a:r>
          </a:p>
          <a:p>
            <a:pPr algn="just">
              <a:lnSpc>
                <a:spcPts val="3865"/>
              </a:lnSpc>
            </a:pPr>
          </a:p>
          <a:p>
            <a:pPr algn="just" marL="662374" indent="-331187" lvl="1">
              <a:lnSpc>
                <a:spcPts val="3865"/>
              </a:lnSpc>
              <a:spcBef>
                <a:spcPct val="0"/>
              </a:spcBef>
              <a:buFont typeface="Arial"/>
              <a:buChar char="•"/>
            </a:pPr>
            <a:r>
              <a:rPr lang="en-US" b="true" sz="3067" spc="-171">
                <a:solidFill>
                  <a:srgbClr val="424242"/>
                </a:solidFill>
                <a:latin typeface="Poppins Bold"/>
                <a:ea typeface="Poppins Bold"/>
                <a:cs typeface="Poppins Bold"/>
                <a:sym typeface="Poppins Bold"/>
              </a:rPr>
              <a:t>Verify calibration of the voltage divider, current sensor and recorder.</a:t>
            </a:r>
          </a:p>
        </p:txBody>
      </p:sp>
      <p:sp>
        <p:nvSpPr>
          <p:cNvPr name="TextBox 5" id="5"/>
          <p:cNvSpPr txBox="true"/>
          <p:nvPr/>
        </p:nvSpPr>
        <p:spPr>
          <a:xfrm rot="0">
            <a:off x="617585" y="960916"/>
            <a:ext cx="8125274" cy="1286000"/>
          </a:xfrm>
          <a:prstGeom prst="rect">
            <a:avLst/>
          </a:prstGeom>
        </p:spPr>
        <p:txBody>
          <a:bodyPr anchor="t" rtlCol="false" tIns="0" lIns="0" bIns="0" rIns="0">
            <a:spAutoFit/>
          </a:bodyPr>
          <a:lstStyle/>
          <a:p>
            <a:pPr algn="l">
              <a:lnSpc>
                <a:spcPts val="9493"/>
              </a:lnSpc>
            </a:pPr>
            <a:r>
              <a:rPr lang="en-US" sz="10099" spc="-474" b="true">
                <a:solidFill>
                  <a:srgbClr val="424242"/>
                </a:solidFill>
                <a:latin typeface="Open Sauce Heavy"/>
                <a:ea typeface="Open Sauce Heavy"/>
                <a:cs typeface="Open Sauce Heavy"/>
                <a:sym typeface="Open Sauce Heavy"/>
              </a:rPr>
              <a:t>Prerequisites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424242"/>
        </a:solidFill>
      </p:bgPr>
    </p:bg>
    <p:spTree>
      <p:nvGrpSpPr>
        <p:cNvPr id="1" name=""/>
        <p:cNvGrpSpPr/>
        <p:nvPr/>
      </p:nvGrpSpPr>
      <p:grpSpPr>
        <a:xfrm>
          <a:off x="0" y="0"/>
          <a:ext cx="0" cy="0"/>
          <a:chOff x="0" y="0"/>
          <a:chExt cx="0" cy="0"/>
        </a:xfrm>
      </p:grpSpPr>
      <p:sp>
        <p:nvSpPr>
          <p:cNvPr name="Freeform 2" id="2"/>
          <p:cNvSpPr/>
          <p:nvPr/>
        </p:nvSpPr>
        <p:spPr>
          <a:xfrm flipH="false" flipV="false" rot="0">
            <a:off x="6744741" y="-1712143"/>
            <a:ext cx="13720908" cy="8881170"/>
          </a:xfrm>
          <a:custGeom>
            <a:avLst/>
            <a:gdLst/>
            <a:ahLst/>
            <a:cxnLst/>
            <a:rect r="r" b="b" t="t" l="l"/>
            <a:pathLst>
              <a:path h="8881170" w="13720908">
                <a:moveTo>
                  <a:pt x="0" y="0"/>
                </a:moveTo>
                <a:lnTo>
                  <a:pt x="13720908" y="0"/>
                </a:lnTo>
                <a:lnTo>
                  <a:pt x="13720908" y="8881170"/>
                </a:lnTo>
                <a:lnTo>
                  <a:pt x="0" y="8881170"/>
                </a:lnTo>
                <a:lnTo>
                  <a:pt x="0" y="0"/>
                </a:lnTo>
                <a:close/>
              </a:path>
            </a:pathLst>
          </a:custGeom>
          <a:blipFill>
            <a:blip r:embed="rId2">
              <a:alphaModFix amt="24000"/>
            </a:blip>
            <a:stretch>
              <a:fillRect l="0" t="0" r="0" b="0"/>
            </a:stretch>
          </a:blipFill>
        </p:spPr>
      </p:sp>
      <p:sp>
        <p:nvSpPr>
          <p:cNvPr name="Freeform 3" id="3"/>
          <p:cNvSpPr/>
          <p:nvPr/>
        </p:nvSpPr>
        <p:spPr>
          <a:xfrm flipH="false" flipV="false" rot="0">
            <a:off x="-5966414" y="3338967"/>
            <a:ext cx="13720908" cy="8881170"/>
          </a:xfrm>
          <a:custGeom>
            <a:avLst/>
            <a:gdLst/>
            <a:ahLst/>
            <a:cxnLst/>
            <a:rect r="r" b="b" t="t" l="l"/>
            <a:pathLst>
              <a:path h="8881170" w="13720908">
                <a:moveTo>
                  <a:pt x="0" y="0"/>
                </a:moveTo>
                <a:lnTo>
                  <a:pt x="13720908" y="0"/>
                </a:lnTo>
                <a:lnTo>
                  <a:pt x="13720908" y="8881169"/>
                </a:lnTo>
                <a:lnTo>
                  <a:pt x="0" y="8881169"/>
                </a:lnTo>
                <a:lnTo>
                  <a:pt x="0" y="0"/>
                </a:lnTo>
                <a:close/>
              </a:path>
            </a:pathLst>
          </a:custGeom>
          <a:blipFill>
            <a:blip r:embed="rId2">
              <a:alphaModFix amt="24000"/>
            </a:blip>
            <a:stretch>
              <a:fillRect l="0" t="0" r="0" b="0"/>
            </a:stretch>
          </a:blipFill>
        </p:spPr>
      </p:sp>
      <p:grpSp>
        <p:nvGrpSpPr>
          <p:cNvPr name="Group 4" id="4"/>
          <p:cNvGrpSpPr/>
          <p:nvPr/>
        </p:nvGrpSpPr>
        <p:grpSpPr>
          <a:xfrm rot="0">
            <a:off x="172027" y="189308"/>
            <a:ext cx="17919387" cy="9864122"/>
            <a:chOff x="0" y="0"/>
            <a:chExt cx="4719509" cy="2597958"/>
          </a:xfrm>
        </p:grpSpPr>
        <p:sp>
          <p:nvSpPr>
            <p:cNvPr name="Freeform 5" id="5"/>
            <p:cNvSpPr/>
            <p:nvPr/>
          </p:nvSpPr>
          <p:spPr>
            <a:xfrm flipH="false" flipV="false" rot="0">
              <a:off x="0" y="0"/>
              <a:ext cx="4719509" cy="2597958"/>
            </a:xfrm>
            <a:custGeom>
              <a:avLst/>
              <a:gdLst/>
              <a:ahLst/>
              <a:cxnLst/>
              <a:rect r="r" b="b" t="t" l="l"/>
              <a:pathLst>
                <a:path h="2597958" w="4719509">
                  <a:moveTo>
                    <a:pt x="40180" y="0"/>
                  </a:moveTo>
                  <a:lnTo>
                    <a:pt x="4679329" y="0"/>
                  </a:lnTo>
                  <a:cubicBezTo>
                    <a:pt x="4701520" y="0"/>
                    <a:pt x="4719509" y="17989"/>
                    <a:pt x="4719509" y="40180"/>
                  </a:cubicBezTo>
                  <a:lnTo>
                    <a:pt x="4719509" y="2557778"/>
                  </a:lnTo>
                  <a:cubicBezTo>
                    <a:pt x="4719509" y="2579969"/>
                    <a:pt x="4701520" y="2597958"/>
                    <a:pt x="4679329" y="2597958"/>
                  </a:cubicBezTo>
                  <a:lnTo>
                    <a:pt x="40180" y="2597958"/>
                  </a:lnTo>
                  <a:cubicBezTo>
                    <a:pt x="17989" y="2597958"/>
                    <a:pt x="0" y="2579969"/>
                    <a:pt x="0" y="2557778"/>
                  </a:cubicBezTo>
                  <a:lnTo>
                    <a:pt x="0" y="40180"/>
                  </a:lnTo>
                  <a:cubicBezTo>
                    <a:pt x="0" y="17989"/>
                    <a:pt x="17989" y="0"/>
                    <a:pt x="40180" y="0"/>
                  </a:cubicBezTo>
                  <a:close/>
                </a:path>
              </a:pathLst>
            </a:custGeom>
            <a:solidFill>
              <a:srgbClr val="424242"/>
            </a:solidFill>
            <a:ln w="19050" cap="rnd">
              <a:solidFill>
                <a:srgbClr val="D0D7DD"/>
              </a:solidFill>
              <a:prstDash val="solid"/>
              <a:round/>
            </a:ln>
          </p:spPr>
        </p:sp>
        <p:sp>
          <p:nvSpPr>
            <p:cNvPr name="TextBox 6" id="6"/>
            <p:cNvSpPr txBox="true"/>
            <p:nvPr/>
          </p:nvSpPr>
          <p:spPr>
            <a:xfrm>
              <a:off x="0" y="-28575"/>
              <a:ext cx="4719509" cy="2626533"/>
            </a:xfrm>
            <a:prstGeom prst="rect">
              <a:avLst/>
            </a:prstGeom>
          </p:spPr>
          <p:txBody>
            <a:bodyPr anchor="ctr" rtlCol="false" tIns="50800" lIns="50800" bIns="50800" rIns="50800"/>
            <a:lstStyle/>
            <a:p>
              <a:pPr algn="ctr">
                <a:lnSpc>
                  <a:spcPts val="2015"/>
                </a:lnSpc>
              </a:pPr>
            </a:p>
          </p:txBody>
        </p:sp>
      </p:grpSp>
      <p:sp>
        <p:nvSpPr>
          <p:cNvPr name="Freeform 7" id="7"/>
          <p:cNvSpPr/>
          <p:nvPr/>
        </p:nvSpPr>
        <p:spPr>
          <a:xfrm flipH="false" flipV="false" rot="0">
            <a:off x="6153392" y="3515483"/>
            <a:ext cx="11790090" cy="4885658"/>
          </a:xfrm>
          <a:custGeom>
            <a:avLst/>
            <a:gdLst/>
            <a:ahLst/>
            <a:cxnLst/>
            <a:rect r="r" b="b" t="t" l="l"/>
            <a:pathLst>
              <a:path h="4885658" w="11790090">
                <a:moveTo>
                  <a:pt x="0" y="0"/>
                </a:moveTo>
                <a:lnTo>
                  <a:pt x="11790090" y="0"/>
                </a:lnTo>
                <a:lnTo>
                  <a:pt x="11790090" y="4885657"/>
                </a:lnTo>
                <a:lnTo>
                  <a:pt x="0" y="4885657"/>
                </a:lnTo>
                <a:lnTo>
                  <a:pt x="0" y="0"/>
                </a:lnTo>
                <a:close/>
              </a:path>
            </a:pathLst>
          </a:custGeom>
          <a:blipFill>
            <a:blip r:embed="rId3"/>
            <a:stretch>
              <a:fillRect l="-381" t="0" r="-381" b="0"/>
            </a:stretch>
          </a:blipFill>
        </p:spPr>
      </p:sp>
      <p:sp>
        <p:nvSpPr>
          <p:cNvPr name="TextBox 8" id="8"/>
          <p:cNvSpPr txBox="true"/>
          <p:nvPr/>
        </p:nvSpPr>
        <p:spPr>
          <a:xfrm rot="0">
            <a:off x="317559" y="1017176"/>
            <a:ext cx="11922419" cy="1144905"/>
          </a:xfrm>
          <a:prstGeom prst="rect">
            <a:avLst/>
          </a:prstGeom>
        </p:spPr>
        <p:txBody>
          <a:bodyPr anchor="t" rtlCol="false" tIns="0" lIns="0" bIns="0" rIns="0">
            <a:spAutoFit/>
          </a:bodyPr>
          <a:lstStyle/>
          <a:p>
            <a:pPr algn="l">
              <a:lnSpc>
                <a:spcPts val="8460"/>
              </a:lnSpc>
            </a:pPr>
            <a:r>
              <a:rPr lang="en-US" sz="9000" spc="-422" b="true">
                <a:solidFill>
                  <a:srgbClr val="FFFFFF"/>
                </a:solidFill>
                <a:latin typeface="Open Sauce Heavy"/>
                <a:ea typeface="Open Sauce Heavy"/>
                <a:cs typeface="Open Sauce Heavy"/>
                <a:sym typeface="Open Sauce Heavy"/>
              </a:rPr>
              <a:t>Architecture</a:t>
            </a:r>
          </a:p>
        </p:txBody>
      </p:sp>
      <p:sp>
        <p:nvSpPr>
          <p:cNvPr name="TextBox 9" id="9"/>
          <p:cNvSpPr txBox="true"/>
          <p:nvPr/>
        </p:nvSpPr>
        <p:spPr>
          <a:xfrm rot="0">
            <a:off x="7472984" y="1449611"/>
            <a:ext cx="4881190" cy="712470"/>
          </a:xfrm>
          <a:prstGeom prst="rect">
            <a:avLst/>
          </a:prstGeom>
        </p:spPr>
        <p:txBody>
          <a:bodyPr anchor="t" rtlCol="false" tIns="0" lIns="0" bIns="0" rIns="0">
            <a:spAutoFit/>
          </a:bodyPr>
          <a:lstStyle/>
          <a:p>
            <a:pPr algn="ctr">
              <a:lnSpc>
                <a:spcPts val="5880"/>
              </a:lnSpc>
            </a:pPr>
            <a:r>
              <a:rPr lang="en-US" sz="4200">
                <a:solidFill>
                  <a:srgbClr val="FFBD59"/>
                </a:solidFill>
                <a:latin typeface="Norwester"/>
                <a:ea typeface="Norwester"/>
                <a:cs typeface="Norwester"/>
                <a:sym typeface="Norwester"/>
              </a:rPr>
              <a:t>3 engines, 1 DP solver</a:t>
            </a:r>
          </a:p>
        </p:txBody>
      </p:sp>
      <p:sp>
        <p:nvSpPr>
          <p:cNvPr name="TextBox 10" id="10"/>
          <p:cNvSpPr txBox="true"/>
          <p:nvPr/>
        </p:nvSpPr>
        <p:spPr>
          <a:xfrm rot="0">
            <a:off x="151541" y="2553458"/>
            <a:ext cx="6127228" cy="7262260"/>
          </a:xfrm>
          <a:prstGeom prst="rect">
            <a:avLst/>
          </a:prstGeom>
        </p:spPr>
        <p:txBody>
          <a:bodyPr anchor="t" rtlCol="false" tIns="0" lIns="0" bIns="0" rIns="0">
            <a:spAutoFit/>
          </a:bodyPr>
          <a:lstStyle/>
          <a:p>
            <a:pPr algn="l" marL="530954" indent="-265477" lvl="1">
              <a:lnSpc>
                <a:spcPts val="3442"/>
              </a:lnSpc>
              <a:buFont typeface="Arial"/>
              <a:buChar char="•"/>
            </a:pPr>
            <a:r>
              <a:rPr lang="en-US" b="true" sz="2459">
                <a:solidFill>
                  <a:srgbClr val="FFFFFF"/>
                </a:solidFill>
                <a:latin typeface="Canva Sans 1 Bold"/>
                <a:ea typeface="Canva Sans 1 Bold"/>
                <a:cs typeface="Canva Sans 1 Bold"/>
                <a:sym typeface="Canva Sans 1 Bold"/>
              </a:rPr>
              <a:t>Physics Engine:</a:t>
            </a:r>
            <a:r>
              <a:rPr lang="en-US" sz="2459">
                <a:solidFill>
                  <a:srgbClr val="FFFFFF"/>
                </a:solidFill>
                <a:latin typeface="Canva Sans 1"/>
                <a:ea typeface="Canva Sans 1"/>
                <a:cs typeface="Canva Sans 1"/>
                <a:sym typeface="Canva Sans 1"/>
              </a:rPr>
              <a:t> proposes the stage count an</a:t>
            </a:r>
            <a:r>
              <a:rPr lang="en-US" sz="2459">
                <a:solidFill>
                  <a:srgbClr val="FFFFFF"/>
                </a:solidFill>
                <a:latin typeface="Canva Sans 1"/>
                <a:ea typeface="Canva Sans 1"/>
                <a:cs typeface="Canva Sans 1"/>
                <a:sym typeface="Canva Sans 1"/>
              </a:rPr>
              <a:t>d front/tail resistance per stage; predicts the waveform for buildable settings</a:t>
            </a:r>
          </a:p>
          <a:p>
            <a:pPr algn="l" marL="530954" indent="-265477" lvl="1">
              <a:lnSpc>
                <a:spcPts val="3442"/>
              </a:lnSpc>
              <a:buFont typeface="Arial"/>
              <a:buChar char="•"/>
            </a:pPr>
            <a:r>
              <a:rPr lang="en-US" b="true" sz="2459">
                <a:solidFill>
                  <a:srgbClr val="FFFFFF"/>
                </a:solidFill>
                <a:latin typeface="Canva Sans 1 Bold"/>
                <a:ea typeface="Canva Sans 1 Bold"/>
                <a:cs typeface="Canva Sans 1 Bold"/>
                <a:sym typeface="Canva Sans 1 Bold"/>
              </a:rPr>
              <a:t>Inventory Solver </a:t>
            </a:r>
            <a:r>
              <a:rPr lang="en-US" b="true" sz="2459">
                <a:solidFill>
                  <a:srgbClr val="FFBD59"/>
                </a:solidFill>
                <a:latin typeface="Canva Sans 1 Bold"/>
                <a:ea typeface="Canva Sans 1 Bold"/>
                <a:cs typeface="Canva Sans 1 Bold"/>
                <a:sym typeface="Canva Sans 1 Bold"/>
              </a:rPr>
              <a:t>(DP + CP-SAT):</a:t>
            </a:r>
            <a:r>
              <a:rPr lang="en-US" sz="2459">
                <a:solidFill>
                  <a:srgbClr val="FFFFFF"/>
                </a:solidFill>
                <a:latin typeface="Canva Sans 1"/>
                <a:ea typeface="Canva Sans 1"/>
                <a:cs typeface="Canva Sans 1"/>
                <a:sym typeface="Canva Sans 1"/>
              </a:rPr>
              <a:t> builds exact series–parallel resistor assemblies from stock; picks compatible front/tail pairs</a:t>
            </a:r>
          </a:p>
          <a:p>
            <a:pPr algn="l" marL="530954" indent="-265477" lvl="1">
              <a:lnSpc>
                <a:spcPts val="3442"/>
              </a:lnSpc>
              <a:buFont typeface="Arial"/>
              <a:buChar char="•"/>
            </a:pPr>
            <a:r>
              <a:rPr lang="en-US" b="true" sz="2459">
                <a:solidFill>
                  <a:srgbClr val="FFFFFF"/>
                </a:solidFill>
                <a:latin typeface="Canva Sans 1 Bold"/>
                <a:ea typeface="Canva Sans 1 Bold"/>
                <a:cs typeface="Canva Sans 1 Bold"/>
                <a:sym typeface="Canva Sans 1 Bold"/>
              </a:rPr>
              <a:t>Residual ML Engine </a:t>
            </a:r>
            <a:r>
              <a:rPr lang="en-US" b="true" sz="2459">
                <a:solidFill>
                  <a:srgbClr val="FFBD59"/>
                </a:solidFill>
                <a:latin typeface="Canva Sans 1 Bold"/>
                <a:ea typeface="Canva Sans 1 Bold"/>
                <a:cs typeface="Canva Sans 1 Bold"/>
                <a:sym typeface="Canva Sans 1 Bold"/>
              </a:rPr>
              <a:t>(TabPFN v2):</a:t>
            </a:r>
            <a:r>
              <a:rPr lang="en-US" sz="2459">
                <a:solidFill>
                  <a:srgbClr val="FFFFFF"/>
                </a:solidFill>
                <a:latin typeface="Canva Sans 1"/>
                <a:ea typeface="Canva Sans 1"/>
                <a:cs typeface="Canva Sans 1"/>
                <a:sym typeface="Canva Sans 1"/>
              </a:rPr>
              <a:t> corrects the physics prediction of front/peak time, tail time and crest voltage</a:t>
            </a:r>
          </a:p>
          <a:p>
            <a:pPr algn="l" marL="530954" indent="-265477" lvl="1">
              <a:lnSpc>
                <a:spcPts val="3442"/>
              </a:lnSpc>
              <a:buFont typeface="Arial"/>
              <a:buChar char="•"/>
            </a:pPr>
            <a:r>
              <a:rPr lang="en-US" b="true" sz="2459">
                <a:solidFill>
                  <a:srgbClr val="FFFFFF"/>
                </a:solidFill>
                <a:latin typeface="Canva Sans 1 Bold"/>
                <a:ea typeface="Canva Sans 1 Bold"/>
                <a:cs typeface="Canva Sans 1 Bold"/>
                <a:sym typeface="Canva Sans 1 Bold"/>
              </a:rPr>
              <a:t>Optimisation Engine </a:t>
            </a:r>
            <a:r>
              <a:rPr lang="en-US" b="true" sz="2459">
                <a:solidFill>
                  <a:srgbClr val="FFBD59"/>
                </a:solidFill>
                <a:latin typeface="Canva Sans 1 Bold"/>
                <a:ea typeface="Canva Sans 1 Bold"/>
                <a:cs typeface="Canva Sans 1 Bold"/>
                <a:sym typeface="Canva Sans 1 Bold"/>
              </a:rPr>
              <a:t>(SMAC3):</a:t>
            </a:r>
            <a:r>
              <a:rPr lang="en-US" b="true" sz="2459">
                <a:solidFill>
                  <a:srgbClr val="FFFFFF"/>
                </a:solidFill>
                <a:latin typeface="Canva Sans 1 Bold"/>
                <a:ea typeface="Canva Sans 1 Bold"/>
                <a:cs typeface="Canva Sans 1 Bold"/>
                <a:sym typeface="Canva Sans 1 Bold"/>
              </a:rPr>
              <a:t> </a:t>
            </a:r>
            <a:r>
              <a:rPr lang="en-US" sz="2459">
                <a:solidFill>
                  <a:srgbClr val="FFFFFF"/>
                </a:solidFill>
                <a:latin typeface="Canva Sans 1"/>
                <a:ea typeface="Canva Sans 1"/>
                <a:cs typeface="Canva Sans 1"/>
                <a:sym typeface="Canva Sans 1"/>
              </a:rPr>
              <a:t>refines the settings, scores the corrected predictions and stops at a set limit</a:t>
            </a:r>
          </a:p>
          <a:p>
            <a:pPr algn="l">
              <a:lnSpc>
                <a:spcPts val="3442"/>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424242"/>
        </a:solidFill>
      </p:bgPr>
    </p:bg>
    <p:spTree>
      <p:nvGrpSpPr>
        <p:cNvPr id="1" name=""/>
        <p:cNvGrpSpPr/>
        <p:nvPr/>
      </p:nvGrpSpPr>
      <p:grpSpPr>
        <a:xfrm>
          <a:off x="0" y="0"/>
          <a:ext cx="0" cy="0"/>
          <a:chOff x="0" y="0"/>
          <a:chExt cx="0" cy="0"/>
        </a:xfrm>
      </p:grpSpPr>
      <p:sp>
        <p:nvSpPr>
          <p:cNvPr name="Freeform 2" id="2"/>
          <p:cNvSpPr/>
          <p:nvPr/>
        </p:nvSpPr>
        <p:spPr>
          <a:xfrm flipH="false" flipV="false" rot="0">
            <a:off x="1623466" y="2271335"/>
            <a:ext cx="14172042" cy="7635188"/>
          </a:xfrm>
          <a:custGeom>
            <a:avLst/>
            <a:gdLst/>
            <a:ahLst/>
            <a:cxnLst/>
            <a:rect r="r" b="b" t="t" l="l"/>
            <a:pathLst>
              <a:path h="7635188" w="14172042">
                <a:moveTo>
                  <a:pt x="0" y="0"/>
                </a:moveTo>
                <a:lnTo>
                  <a:pt x="14172042" y="0"/>
                </a:lnTo>
                <a:lnTo>
                  <a:pt x="14172042" y="7635187"/>
                </a:lnTo>
                <a:lnTo>
                  <a:pt x="0" y="7635187"/>
                </a:lnTo>
                <a:lnTo>
                  <a:pt x="0" y="0"/>
                </a:lnTo>
                <a:close/>
              </a:path>
            </a:pathLst>
          </a:custGeom>
          <a:blipFill>
            <a:blip r:embed="rId2"/>
            <a:stretch>
              <a:fillRect l="0" t="0" r="0" b="0"/>
            </a:stretch>
          </a:blipFill>
        </p:spPr>
      </p:sp>
      <p:sp>
        <p:nvSpPr>
          <p:cNvPr name="TextBox 3" id="3"/>
          <p:cNvSpPr txBox="true"/>
          <p:nvPr/>
        </p:nvSpPr>
        <p:spPr>
          <a:xfrm rot="0">
            <a:off x="1028700" y="998160"/>
            <a:ext cx="16230600" cy="1273174"/>
          </a:xfrm>
          <a:prstGeom prst="rect">
            <a:avLst/>
          </a:prstGeom>
        </p:spPr>
        <p:txBody>
          <a:bodyPr anchor="t" rtlCol="false" tIns="0" lIns="0" bIns="0" rIns="0">
            <a:spAutoFit/>
          </a:bodyPr>
          <a:lstStyle/>
          <a:p>
            <a:pPr algn="l">
              <a:lnSpc>
                <a:spcPts val="9399"/>
              </a:lnSpc>
            </a:pPr>
            <a:r>
              <a:rPr lang="en-US" sz="9999" spc="-469" b="true">
                <a:solidFill>
                  <a:srgbClr val="FFFFFF"/>
                </a:solidFill>
                <a:latin typeface="Open Sauce Heavy"/>
                <a:ea typeface="Open Sauce Heavy"/>
                <a:cs typeface="Open Sauce Heavy"/>
                <a:sym typeface="Open Sauce Heavy"/>
              </a:rPr>
              <a:t>Demo</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D0D7DD"/>
        </a:solidFill>
      </p:bgPr>
    </p:bg>
    <p:spTree>
      <p:nvGrpSpPr>
        <p:cNvPr id="1" name=""/>
        <p:cNvGrpSpPr/>
        <p:nvPr/>
      </p:nvGrpSpPr>
      <p:grpSpPr>
        <a:xfrm>
          <a:off x="0" y="0"/>
          <a:ext cx="0" cy="0"/>
          <a:chOff x="0" y="0"/>
          <a:chExt cx="0" cy="0"/>
        </a:xfrm>
      </p:grpSpPr>
      <p:sp>
        <p:nvSpPr>
          <p:cNvPr name="Freeform 2" id="2"/>
          <p:cNvSpPr/>
          <p:nvPr/>
        </p:nvSpPr>
        <p:spPr>
          <a:xfrm flipH="true" flipV="false" rot="2700000">
            <a:off x="-1940982" y="5532742"/>
            <a:ext cx="9290530" cy="6858100"/>
          </a:xfrm>
          <a:custGeom>
            <a:avLst/>
            <a:gdLst/>
            <a:ahLst/>
            <a:cxnLst/>
            <a:rect r="r" b="b" t="t" l="l"/>
            <a:pathLst>
              <a:path h="6858100" w="9290530">
                <a:moveTo>
                  <a:pt x="9290530" y="0"/>
                </a:moveTo>
                <a:lnTo>
                  <a:pt x="0" y="0"/>
                </a:lnTo>
                <a:lnTo>
                  <a:pt x="0" y="6858101"/>
                </a:lnTo>
                <a:lnTo>
                  <a:pt x="9290530" y="6858101"/>
                </a:lnTo>
                <a:lnTo>
                  <a:pt x="9290530" y="0"/>
                </a:lnTo>
                <a:close/>
              </a:path>
            </a:pathLst>
          </a:custGeom>
          <a:blipFill>
            <a:blip r:embed="rId2">
              <a:alphaModFix amt="24000"/>
            </a:blip>
            <a:stretch>
              <a:fillRect l="0" t="0" r="0" b="0"/>
            </a:stretch>
          </a:blipFill>
        </p:spPr>
      </p:sp>
      <p:grpSp>
        <p:nvGrpSpPr>
          <p:cNvPr name="Group 3" id="3"/>
          <p:cNvGrpSpPr/>
          <p:nvPr/>
        </p:nvGrpSpPr>
        <p:grpSpPr>
          <a:xfrm rot="0">
            <a:off x="445562" y="481786"/>
            <a:ext cx="8123052" cy="4274683"/>
            <a:chOff x="0" y="0"/>
            <a:chExt cx="2139405" cy="1125842"/>
          </a:xfrm>
        </p:grpSpPr>
        <p:sp>
          <p:nvSpPr>
            <p:cNvPr name="Freeform 4" id="4"/>
            <p:cNvSpPr/>
            <p:nvPr/>
          </p:nvSpPr>
          <p:spPr>
            <a:xfrm flipH="false" flipV="false" rot="0">
              <a:off x="0" y="0"/>
              <a:ext cx="2139404" cy="1125842"/>
            </a:xfrm>
            <a:custGeom>
              <a:avLst/>
              <a:gdLst/>
              <a:ahLst/>
              <a:cxnLst/>
              <a:rect r="r" b="b" t="t" l="l"/>
              <a:pathLst>
                <a:path h="1125842" w="2139404">
                  <a:moveTo>
                    <a:pt x="62903" y="0"/>
                  </a:moveTo>
                  <a:lnTo>
                    <a:pt x="2076501" y="0"/>
                  </a:lnTo>
                  <a:cubicBezTo>
                    <a:pt x="2111242" y="0"/>
                    <a:pt x="2139404" y="28163"/>
                    <a:pt x="2139404" y="62903"/>
                  </a:cubicBezTo>
                  <a:lnTo>
                    <a:pt x="2139404" y="1062939"/>
                  </a:lnTo>
                  <a:cubicBezTo>
                    <a:pt x="2139404" y="1097680"/>
                    <a:pt x="2111242" y="1125842"/>
                    <a:pt x="2076501" y="1125842"/>
                  </a:cubicBezTo>
                  <a:lnTo>
                    <a:pt x="62903" y="1125842"/>
                  </a:lnTo>
                  <a:cubicBezTo>
                    <a:pt x="28163" y="1125842"/>
                    <a:pt x="0" y="1097680"/>
                    <a:pt x="0" y="1062939"/>
                  </a:cubicBezTo>
                  <a:lnTo>
                    <a:pt x="0" y="62903"/>
                  </a:lnTo>
                  <a:cubicBezTo>
                    <a:pt x="0" y="28163"/>
                    <a:pt x="28163" y="0"/>
                    <a:pt x="62903" y="0"/>
                  </a:cubicBezTo>
                  <a:close/>
                </a:path>
              </a:pathLst>
            </a:custGeom>
            <a:solidFill>
              <a:srgbClr val="D0D7DD"/>
            </a:solidFill>
            <a:ln w="19050" cap="rnd">
              <a:solidFill>
                <a:srgbClr val="424242"/>
              </a:solidFill>
              <a:prstDash val="solid"/>
              <a:round/>
            </a:ln>
          </p:spPr>
        </p:sp>
        <p:sp>
          <p:nvSpPr>
            <p:cNvPr name="TextBox 5" id="5"/>
            <p:cNvSpPr txBox="true"/>
            <p:nvPr/>
          </p:nvSpPr>
          <p:spPr>
            <a:xfrm>
              <a:off x="0" y="-28575"/>
              <a:ext cx="2139405" cy="1154417"/>
            </a:xfrm>
            <a:prstGeom prst="rect">
              <a:avLst/>
            </a:prstGeom>
          </p:spPr>
          <p:txBody>
            <a:bodyPr anchor="ctr" rtlCol="false" tIns="50800" lIns="50800" bIns="50800" rIns="50800"/>
            <a:lstStyle/>
            <a:p>
              <a:pPr algn="ctr">
                <a:lnSpc>
                  <a:spcPts val="2015"/>
                </a:lnSpc>
              </a:pPr>
            </a:p>
          </p:txBody>
        </p:sp>
      </p:grpSp>
      <p:sp>
        <p:nvSpPr>
          <p:cNvPr name="TextBox 6" id="6"/>
          <p:cNvSpPr txBox="true"/>
          <p:nvPr/>
        </p:nvSpPr>
        <p:spPr>
          <a:xfrm rot="0">
            <a:off x="736388" y="1115882"/>
            <a:ext cx="5882317" cy="937579"/>
          </a:xfrm>
          <a:prstGeom prst="rect">
            <a:avLst/>
          </a:prstGeom>
        </p:spPr>
        <p:txBody>
          <a:bodyPr anchor="t" rtlCol="false" tIns="0" lIns="0" bIns="0" rIns="0">
            <a:spAutoFit/>
          </a:bodyPr>
          <a:lstStyle/>
          <a:p>
            <a:pPr algn="l">
              <a:lnSpc>
                <a:spcPts val="6994"/>
              </a:lnSpc>
            </a:pPr>
            <a:r>
              <a:rPr lang="en-US" sz="7441" spc="-349" b="true">
                <a:solidFill>
                  <a:srgbClr val="424242"/>
                </a:solidFill>
                <a:latin typeface="Open Sauce Heavy"/>
                <a:ea typeface="Open Sauce Heavy"/>
                <a:cs typeface="Open Sauce Heavy"/>
                <a:sym typeface="Open Sauce Heavy"/>
              </a:rPr>
              <a:t>DP solver</a:t>
            </a:r>
          </a:p>
        </p:txBody>
      </p:sp>
      <p:grpSp>
        <p:nvGrpSpPr>
          <p:cNvPr name="Group 7" id="7"/>
          <p:cNvGrpSpPr/>
          <p:nvPr/>
        </p:nvGrpSpPr>
        <p:grpSpPr>
          <a:xfrm rot="0">
            <a:off x="9651557" y="568060"/>
            <a:ext cx="8251936" cy="9448323"/>
            <a:chOff x="0" y="0"/>
            <a:chExt cx="2173349" cy="2488447"/>
          </a:xfrm>
        </p:grpSpPr>
        <p:sp>
          <p:nvSpPr>
            <p:cNvPr name="Freeform 8" id="8"/>
            <p:cNvSpPr/>
            <p:nvPr/>
          </p:nvSpPr>
          <p:spPr>
            <a:xfrm flipH="false" flipV="false" rot="0">
              <a:off x="0" y="0"/>
              <a:ext cx="2173349" cy="2488447"/>
            </a:xfrm>
            <a:custGeom>
              <a:avLst/>
              <a:gdLst/>
              <a:ahLst/>
              <a:cxnLst/>
              <a:rect r="r" b="b" t="t" l="l"/>
              <a:pathLst>
                <a:path h="2488447" w="2173349">
                  <a:moveTo>
                    <a:pt x="61921" y="0"/>
                  </a:moveTo>
                  <a:lnTo>
                    <a:pt x="2111428" y="0"/>
                  </a:lnTo>
                  <a:cubicBezTo>
                    <a:pt x="2145626" y="0"/>
                    <a:pt x="2173349" y="27723"/>
                    <a:pt x="2173349" y="61921"/>
                  </a:cubicBezTo>
                  <a:lnTo>
                    <a:pt x="2173349" y="2426526"/>
                  </a:lnTo>
                  <a:cubicBezTo>
                    <a:pt x="2173349" y="2460724"/>
                    <a:pt x="2145626" y="2488447"/>
                    <a:pt x="2111428" y="2488447"/>
                  </a:cubicBezTo>
                  <a:lnTo>
                    <a:pt x="61921" y="2488447"/>
                  </a:lnTo>
                  <a:cubicBezTo>
                    <a:pt x="27723" y="2488447"/>
                    <a:pt x="0" y="2460724"/>
                    <a:pt x="0" y="2426526"/>
                  </a:cubicBezTo>
                  <a:lnTo>
                    <a:pt x="0" y="61921"/>
                  </a:lnTo>
                  <a:cubicBezTo>
                    <a:pt x="0" y="27723"/>
                    <a:pt x="27723" y="0"/>
                    <a:pt x="61921" y="0"/>
                  </a:cubicBezTo>
                  <a:close/>
                </a:path>
              </a:pathLst>
            </a:custGeom>
            <a:solidFill>
              <a:srgbClr val="D0D7DD"/>
            </a:solidFill>
            <a:ln w="19050" cap="rnd">
              <a:solidFill>
                <a:srgbClr val="424242"/>
              </a:solidFill>
              <a:prstDash val="solid"/>
              <a:round/>
            </a:ln>
          </p:spPr>
        </p:sp>
        <p:sp>
          <p:nvSpPr>
            <p:cNvPr name="TextBox 9" id="9"/>
            <p:cNvSpPr txBox="true"/>
            <p:nvPr/>
          </p:nvSpPr>
          <p:spPr>
            <a:xfrm>
              <a:off x="0" y="-28575"/>
              <a:ext cx="2173349" cy="2517022"/>
            </a:xfrm>
            <a:prstGeom prst="rect">
              <a:avLst/>
            </a:prstGeom>
          </p:spPr>
          <p:txBody>
            <a:bodyPr anchor="ctr" rtlCol="false" tIns="50800" lIns="50800" bIns="50800" rIns="50800"/>
            <a:lstStyle/>
            <a:p>
              <a:pPr algn="ctr">
                <a:lnSpc>
                  <a:spcPts val="2015"/>
                </a:lnSpc>
              </a:pPr>
            </a:p>
          </p:txBody>
        </p:sp>
      </p:grpSp>
      <p:sp>
        <p:nvSpPr>
          <p:cNvPr name="TextBox 10" id="10"/>
          <p:cNvSpPr txBox="true"/>
          <p:nvPr/>
        </p:nvSpPr>
        <p:spPr>
          <a:xfrm rot="0">
            <a:off x="9926032" y="946448"/>
            <a:ext cx="7977461" cy="1548516"/>
          </a:xfrm>
          <a:prstGeom prst="rect">
            <a:avLst/>
          </a:prstGeom>
        </p:spPr>
        <p:txBody>
          <a:bodyPr anchor="t" rtlCol="false" tIns="0" lIns="0" bIns="0" rIns="0">
            <a:spAutoFit/>
          </a:bodyPr>
          <a:lstStyle/>
          <a:p>
            <a:pPr algn="l">
              <a:lnSpc>
                <a:spcPts val="5951"/>
              </a:lnSpc>
            </a:pPr>
            <a:r>
              <a:rPr lang="en-US" sz="6330" spc="-297" b="true">
                <a:solidFill>
                  <a:srgbClr val="424242"/>
                </a:solidFill>
                <a:latin typeface="Open Sauce Heavy"/>
                <a:ea typeface="Open Sauce Heavy"/>
                <a:cs typeface="Open Sauce Heavy"/>
                <a:sym typeface="Open Sauce Heavy"/>
              </a:rPr>
              <a:t>Calibration &amp; Optimisation engine</a:t>
            </a:r>
          </a:p>
        </p:txBody>
      </p:sp>
      <p:sp>
        <p:nvSpPr>
          <p:cNvPr name="TextBox 11" id="11"/>
          <p:cNvSpPr txBox="true"/>
          <p:nvPr/>
        </p:nvSpPr>
        <p:spPr>
          <a:xfrm rot="0">
            <a:off x="736388" y="2167851"/>
            <a:ext cx="7138078" cy="2780826"/>
          </a:xfrm>
          <a:prstGeom prst="rect">
            <a:avLst/>
          </a:prstGeom>
        </p:spPr>
        <p:txBody>
          <a:bodyPr anchor="t" rtlCol="false" tIns="0" lIns="0" bIns="0" rIns="0">
            <a:spAutoFit/>
          </a:bodyPr>
          <a:lstStyle/>
          <a:p>
            <a:pPr algn="just">
              <a:lnSpc>
                <a:spcPts val="3176"/>
              </a:lnSpc>
            </a:pPr>
            <a:r>
              <a:rPr lang="en-US" sz="2268">
                <a:solidFill>
                  <a:srgbClr val="424242"/>
                </a:solidFill>
                <a:latin typeface="Canva Sans 1"/>
                <a:ea typeface="Canva Sans 1"/>
                <a:cs typeface="Canva Sans 1"/>
                <a:sym typeface="Canva Sans 1"/>
              </a:rPr>
              <a:t>Builds the exact combination of series and parallel resistors to get the closest Req.</a:t>
            </a:r>
          </a:p>
          <a:p>
            <a:pPr algn="just">
              <a:lnSpc>
                <a:spcPts val="3176"/>
              </a:lnSpc>
            </a:pPr>
            <a:r>
              <a:rPr lang="en-US" sz="2268">
                <a:solidFill>
                  <a:srgbClr val="424242"/>
                </a:solidFill>
                <a:latin typeface="Canva Sans 1"/>
                <a:ea typeface="Canva Sans 1"/>
                <a:cs typeface="Canva Sans 1"/>
                <a:sym typeface="Canva Sans 1"/>
              </a:rPr>
              <a:t>We use </a:t>
            </a:r>
            <a:r>
              <a:rPr lang="en-US" sz="2268" b="true">
                <a:solidFill>
                  <a:srgbClr val="424242"/>
                </a:solidFill>
                <a:latin typeface="Canva Sans 1 Bold"/>
                <a:ea typeface="Canva Sans 1 Bold"/>
                <a:cs typeface="Canva Sans 1 Bold"/>
                <a:sym typeface="Canva Sans 1 Bold"/>
              </a:rPr>
              <a:t>Dynamic programming and CP-SAT.</a:t>
            </a:r>
          </a:p>
          <a:p>
            <a:pPr algn="just">
              <a:lnSpc>
                <a:spcPts val="3176"/>
              </a:lnSpc>
            </a:pPr>
          </a:p>
          <a:p>
            <a:pPr algn="just">
              <a:lnSpc>
                <a:spcPts val="3176"/>
              </a:lnSpc>
            </a:pPr>
            <a:r>
              <a:rPr lang="en-US" sz="2268" b="true">
                <a:solidFill>
                  <a:srgbClr val="424242"/>
                </a:solidFill>
                <a:latin typeface="Canva Sans 1 Bold"/>
                <a:ea typeface="Canva Sans 1 Bold"/>
                <a:cs typeface="Canva Sans 1 Bold"/>
                <a:sym typeface="Canva Sans 1 Bold"/>
              </a:rPr>
              <a:t>Limits:</a:t>
            </a:r>
            <a:r>
              <a:rPr lang="en-US" sz="2268">
                <a:solidFill>
                  <a:srgbClr val="424242"/>
                </a:solidFill>
                <a:latin typeface="Canva Sans 1"/>
                <a:ea typeface="Canva Sans 1"/>
                <a:cs typeface="Canva Sans 1"/>
                <a:sym typeface="Canva Sans 1"/>
              </a:rPr>
              <a:t> stock limits have been set to max 4 of one kind of resistor per stage</a:t>
            </a:r>
          </a:p>
          <a:p>
            <a:pPr algn="just">
              <a:lnSpc>
                <a:spcPts val="3176"/>
              </a:lnSpc>
            </a:pPr>
          </a:p>
        </p:txBody>
      </p:sp>
      <p:sp>
        <p:nvSpPr>
          <p:cNvPr name="TextBox 12" id="12"/>
          <p:cNvSpPr txBox="true"/>
          <p:nvPr/>
        </p:nvSpPr>
        <p:spPr>
          <a:xfrm rot="0">
            <a:off x="9926032" y="3071969"/>
            <a:ext cx="7702986" cy="7215031"/>
          </a:xfrm>
          <a:prstGeom prst="rect">
            <a:avLst/>
          </a:prstGeom>
        </p:spPr>
        <p:txBody>
          <a:bodyPr anchor="t" rtlCol="false" tIns="0" lIns="0" bIns="0" rIns="0">
            <a:spAutoFit/>
          </a:bodyPr>
          <a:lstStyle/>
          <a:p>
            <a:pPr algn="just">
              <a:lnSpc>
                <a:spcPts val="2896"/>
              </a:lnSpc>
            </a:pPr>
            <a:r>
              <a:rPr lang="en-US" sz="2068">
                <a:solidFill>
                  <a:srgbClr val="424242"/>
                </a:solidFill>
                <a:latin typeface="Canva Sans 1"/>
                <a:ea typeface="Canva Sans 1"/>
                <a:cs typeface="Canva Sans 1"/>
                <a:sym typeface="Canva Sans 1"/>
              </a:rPr>
              <a:t>The optimisation engine uses </a:t>
            </a:r>
            <a:r>
              <a:rPr lang="en-US" sz="2068" b="true">
                <a:solidFill>
                  <a:srgbClr val="424242"/>
                </a:solidFill>
                <a:latin typeface="Canva Sans 1 Bold"/>
                <a:ea typeface="Canva Sans 1 Bold"/>
                <a:cs typeface="Canva Sans 1 Bold"/>
                <a:sym typeface="Canva Sans 1 Bold"/>
              </a:rPr>
              <a:t>SMAC3</a:t>
            </a:r>
            <a:r>
              <a:rPr lang="en-US" sz="2068">
                <a:solidFill>
                  <a:srgbClr val="424242"/>
                </a:solidFill>
                <a:latin typeface="Canva Sans 1"/>
                <a:ea typeface="Canva Sans 1"/>
                <a:cs typeface="Canva Sans 1"/>
                <a:sym typeface="Canva Sans 1"/>
              </a:rPr>
              <a:t> to search for genera</a:t>
            </a:r>
            <a:r>
              <a:rPr lang="en-US" sz="2068">
                <a:solidFill>
                  <a:srgbClr val="424242"/>
                </a:solidFill>
                <a:latin typeface="Canva Sans 1"/>
                <a:ea typeface="Canva Sans 1"/>
                <a:cs typeface="Canva Sans 1"/>
                <a:sym typeface="Canva Sans 1"/>
              </a:rPr>
              <a:t>t</a:t>
            </a:r>
            <a:r>
              <a:rPr lang="en-US" sz="2068">
                <a:solidFill>
                  <a:srgbClr val="424242"/>
                </a:solidFill>
                <a:latin typeface="Canva Sans 1"/>
                <a:ea typeface="Canva Sans 1"/>
                <a:cs typeface="Canva Sans 1"/>
                <a:sym typeface="Canva Sans 1"/>
              </a:rPr>
              <a:t>or settings that the ML model predicts will hit the target waveform.</a:t>
            </a:r>
          </a:p>
          <a:p>
            <a:pPr algn="just">
              <a:lnSpc>
                <a:spcPts val="2896"/>
              </a:lnSpc>
            </a:pPr>
          </a:p>
          <a:p>
            <a:pPr algn="just" marL="446623" indent="-223312" lvl="1">
              <a:lnSpc>
                <a:spcPts val="2896"/>
              </a:lnSpc>
              <a:buAutoNum type="arabicPeriod" startAt="1"/>
            </a:pPr>
            <a:r>
              <a:rPr lang="en-US" b="true" sz="2068">
                <a:solidFill>
                  <a:srgbClr val="424242"/>
                </a:solidFill>
                <a:latin typeface="Canva Sans 1 Bold"/>
                <a:ea typeface="Canva Sans 1 Bold"/>
                <a:cs typeface="Canva Sans 1 Bold"/>
                <a:sym typeface="Canva Sans 1 Bold"/>
              </a:rPr>
              <a:t>Propose.</a:t>
            </a:r>
            <a:r>
              <a:rPr lang="en-US" sz="2068">
                <a:solidFill>
                  <a:srgbClr val="424242"/>
                </a:solidFill>
                <a:latin typeface="Canva Sans 1"/>
                <a:ea typeface="Canva Sans 1"/>
                <a:cs typeface="Canva Sans 1"/>
                <a:sym typeface="Canva Sans 1"/>
              </a:rPr>
              <a:t> SMAC3 suggests a new stage count N, a required front resistance Rf_req and a required tail resistance Rt_req.</a:t>
            </a:r>
          </a:p>
          <a:p>
            <a:pPr algn="just" marL="446623" indent="-223312" lvl="1">
              <a:lnSpc>
                <a:spcPts val="2896"/>
              </a:lnSpc>
              <a:buAutoNum type="arabicPeriod" startAt="1"/>
            </a:pPr>
            <a:r>
              <a:rPr lang="en-US" b="true" sz="2068">
                <a:solidFill>
                  <a:srgbClr val="424242"/>
                </a:solidFill>
                <a:latin typeface="Canva Sans 1 Bold"/>
                <a:ea typeface="Canva Sans 1 Bold"/>
                <a:cs typeface="Canva Sans 1 Bold"/>
                <a:sym typeface="Canva Sans 1 Bold"/>
              </a:rPr>
              <a:t>Build.</a:t>
            </a:r>
            <a:r>
              <a:rPr lang="en-US" sz="2068">
                <a:solidFill>
                  <a:srgbClr val="424242"/>
                </a:solidFill>
                <a:latin typeface="Canva Sans 1"/>
                <a:ea typeface="Canva Sans 1"/>
                <a:cs typeface="Canva Sans 1"/>
                <a:sym typeface="Canva Sans 1"/>
              </a:rPr>
              <a:t> The proposal goes to the DP solver, not straight to ML. DP turns the requested resistances into real assemblies from the inventory. The engine therefore scores what can actually be built, not ideal values.</a:t>
            </a:r>
          </a:p>
          <a:p>
            <a:pPr algn="just" marL="446623" indent="-223312" lvl="1">
              <a:lnSpc>
                <a:spcPts val="2896"/>
              </a:lnSpc>
              <a:buAutoNum type="arabicPeriod" startAt="1"/>
            </a:pPr>
            <a:r>
              <a:rPr lang="en-US" b="true" sz="2068">
                <a:solidFill>
                  <a:srgbClr val="424242"/>
                </a:solidFill>
                <a:latin typeface="Canva Sans 1 Bold"/>
                <a:ea typeface="Canva Sans 1 Bold"/>
                <a:cs typeface="Canva Sans 1 Bold"/>
                <a:sym typeface="Canva Sans 1 Bold"/>
              </a:rPr>
              <a:t>Keep the best three.</a:t>
            </a:r>
            <a:r>
              <a:rPr lang="en-US" sz="2068">
                <a:solidFill>
                  <a:srgbClr val="424242"/>
                </a:solidFill>
                <a:latin typeface="Canva Sans 1"/>
                <a:ea typeface="Canva Sans 1"/>
                <a:cs typeface="Canva Sans 1"/>
                <a:sym typeface="Canva Sans 1"/>
              </a:rPr>
              <a:t> The engine stores every attempt and keeps the three best distinct buildable setups. Different requests that produce the same physical assembly count as one setup.</a:t>
            </a:r>
          </a:p>
          <a:p>
            <a:pPr algn="just" marL="446623" indent="-223312" lvl="1">
              <a:lnSpc>
                <a:spcPts val="2896"/>
              </a:lnSpc>
              <a:buAutoNum type="arabicPeriod" startAt="1"/>
            </a:pPr>
            <a:r>
              <a:rPr lang="en-US" b="true" sz="2068">
                <a:solidFill>
                  <a:srgbClr val="424242"/>
                </a:solidFill>
                <a:latin typeface="Canva Sans 1 Bold"/>
                <a:ea typeface="Canva Sans 1 Bold"/>
                <a:cs typeface="Canva Sans 1 Bold"/>
                <a:sym typeface="Canva Sans 1 Bold"/>
              </a:rPr>
              <a:t>Repeat or stop.</a:t>
            </a:r>
            <a:r>
              <a:rPr lang="en-US" sz="2068">
                <a:solidFill>
                  <a:srgbClr val="424242"/>
                </a:solidFill>
                <a:latin typeface="Canva Sans 1"/>
                <a:ea typeface="Canva Sans 1"/>
                <a:cs typeface="Canva Sans 1"/>
                <a:sym typeface="Canva Sans 1"/>
              </a:rPr>
              <a:t> It stops when three setups meet all targets, or when it hits a repeated setup, stagnation, or the budget (24 attempts or 600 s).</a:t>
            </a:r>
          </a:p>
          <a:p>
            <a:pPr algn="just">
              <a:lnSpc>
                <a:spcPts val="2896"/>
              </a:lnSpc>
            </a:pPr>
          </a:p>
          <a:p>
            <a:pPr algn="just">
              <a:lnSpc>
                <a:spcPts val="2896"/>
              </a:lnSpc>
            </a:pPr>
          </a:p>
        </p:txBody>
      </p:sp>
      <p:grpSp>
        <p:nvGrpSpPr>
          <p:cNvPr name="Group 13" id="13"/>
          <p:cNvGrpSpPr/>
          <p:nvPr/>
        </p:nvGrpSpPr>
        <p:grpSpPr>
          <a:xfrm rot="0">
            <a:off x="445562" y="4948677"/>
            <a:ext cx="8251936" cy="5067706"/>
            <a:chOff x="0" y="0"/>
            <a:chExt cx="2173349" cy="1334704"/>
          </a:xfrm>
        </p:grpSpPr>
        <p:sp>
          <p:nvSpPr>
            <p:cNvPr name="Freeform 14" id="14"/>
            <p:cNvSpPr/>
            <p:nvPr/>
          </p:nvSpPr>
          <p:spPr>
            <a:xfrm flipH="false" flipV="false" rot="0">
              <a:off x="0" y="0"/>
              <a:ext cx="2173349" cy="1334704"/>
            </a:xfrm>
            <a:custGeom>
              <a:avLst/>
              <a:gdLst/>
              <a:ahLst/>
              <a:cxnLst/>
              <a:rect r="r" b="b" t="t" l="l"/>
              <a:pathLst>
                <a:path h="1334704" w="2173349">
                  <a:moveTo>
                    <a:pt x="61921" y="0"/>
                  </a:moveTo>
                  <a:lnTo>
                    <a:pt x="2111428" y="0"/>
                  </a:lnTo>
                  <a:cubicBezTo>
                    <a:pt x="2145626" y="0"/>
                    <a:pt x="2173349" y="27723"/>
                    <a:pt x="2173349" y="61921"/>
                  </a:cubicBezTo>
                  <a:lnTo>
                    <a:pt x="2173349" y="1272784"/>
                  </a:lnTo>
                  <a:cubicBezTo>
                    <a:pt x="2173349" y="1306981"/>
                    <a:pt x="2145626" y="1334704"/>
                    <a:pt x="2111428" y="1334704"/>
                  </a:cubicBezTo>
                  <a:lnTo>
                    <a:pt x="61921" y="1334704"/>
                  </a:lnTo>
                  <a:cubicBezTo>
                    <a:pt x="27723" y="1334704"/>
                    <a:pt x="0" y="1306981"/>
                    <a:pt x="0" y="1272784"/>
                  </a:cubicBezTo>
                  <a:lnTo>
                    <a:pt x="0" y="61921"/>
                  </a:lnTo>
                  <a:cubicBezTo>
                    <a:pt x="0" y="27723"/>
                    <a:pt x="27723" y="0"/>
                    <a:pt x="61921" y="0"/>
                  </a:cubicBezTo>
                  <a:close/>
                </a:path>
              </a:pathLst>
            </a:custGeom>
            <a:solidFill>
              <a:srgbClr val="D0D7DD"/>
            </a:solidFill>
            <a:ln w="19050" cap="rnd">
              <a:solidFill>
                <a:srgbClr val="424242"/>
              </a:solidFill>
              <a:prstDash val="solid"/>
              <a:round/>
            </a:ln>
          </p:spPr>
        </p:sp>
        <p:sp>
          <p:nvSpPr>
            <p:cNvPr name="TextBox 15" id="15"/>
            <p:cNvSpPr txBox="true"/>
            <p:nvPr/>
          </p:nvSpPr>
          <p:spPr>
            <a:xfrm>
              <a:off x="0" y="-28575"/>
              <a:ext cx="2173349" cy="1363279"/>
            </a:xfrm>
            <a:prstGeom prst="rect">
              <a:avLst/>
            </a:prstGeom>
          </p:spPr>
          <p:txBody>
            <a:bodyPr anchor="ctr" rtlCol="false" tIns="50800" lIns="50800" bIns="50800" rIns="50800"/>
            <a:lstStyle/>
            <a:p>
              <a:pPr algn="ctr">
                <a:lnSpc>
                  <a:spcPts val="2015"/>
                </a:lnSpc>
              </a:pPr>
            </a:p>
          </p:txBody>
        </p:sp>
      </p:grpSp>
      <p:sp>
        <p:nvSpPr>
          <p:cNvPr name="Freeform 16" id="16"/>
          <p:cNvSpPr/>
          <p:nvPr/>
        </p:nvSpPr>
        <p:spPr>
          <a:xfrm flipH="false" flipV="false" rot="0">
            <a:off x="579451" y="7772825"/>
            <a:ext cx="7911699" cy="1855899"/>
          </a:xfrm>
          <a:custGeom>
            <a:avLst/>
            <a:gdLst/>
            <a:ahLst/>
            <a:cxnLst/>
            <a:rect r="r" b="b" t="t" l="l"/>
            <a:pathLst>
              <a:path h="1855899" w="7911699">
                <a:moveTo>
                  <a:pt x="0" y="0"/>
                </a:moveTo>
                <a:lnTo>
                  <a:pt x="7911699" y="0"/>
                </a:lnTo>
                <a:lnTo>
                  <a:pt x="7911699" y="1855899"/>
                </a:lnTo>
                <a:lnTo>
                  <a:pt x="0" y="1855899"/>
                </a:lnTo>
                <a:lnTo>
                  <a:pt x="0" y="0"/>
                </a:lnTo>
                <a:close/>
              </a:path>
            </a:pathLst>
          </a:custGeom>
          <a:blipFill>
            <a:blip r:embed="rId3"/>
            <a:stretch>
              <a:fillRect l="0" t="0" r="0" b="-986"/>
            </a:stretch>
          </a:blipFill>
        </p:spPr>
      </p:sp>
      <p:sp>
        <p:nvSpPr>
          <p:cNvPr name="TextBox 17" id="17"/>
          <p:cNvSpPr txBox="true"/>
          <p:nvPr/>
        </p:nvSpPr>
        <p:spPr>
          <a:xfrm rot="0">
            <a:off x="501988" y="5540320"/>
            <a:ext cx="8066626" cy="937579"/>
          </a:xfrm>
          <a:prstGeom prst="rect">
            <a:avLst/>
          </a:prstGeom>
        </p:spPr>
        <p:txBody>
          <a:bodyPr anchor="t" rtlCol="false" tIns="0" lIns="0" bIns="0" rIns="0">
            <a:spAutoFit/>
          </a:bodyPr>
          <a:lstStyle/>
          <a:p>
            <a:pPr algn="l">
              <a:lnSpc>
                <a:spcPts val="6994"/>
              </a:lnSpc>
            </a:pPr>
            <a:r>
              <a:rPr lang="en-US" sz="7441" spc="-349" b="true">
                <a:solidFill>
                  <a:srgbClr val="424242"/>
                </a:solidFill>
                <a:latin typeface="Open Sauce Heavy"/>
                <a:ea typeface="Open Sauce Heavy"/>
                <a:cs typeface="Open Sauce Heavy"/>
                <a:sym typeface="Open Sauce Heavy"/>
              </a:rPr>
              <a:t>ML Model metrics</a:t>
            </a:r>
          </a:p>
        </p:txBody>
      </p:sp>
      <p:sp>
        <p:nvSpPr>
          <p:cNvPr name="TextBox 18" id="18"/>
          <p:cNvSpPr txBox="true"/>
          <p:nvPr/>
        </p:nvSpPr>
        <p:spPr>
          <a:xfrm rot="0">
            <a:off x="736388" y="6592199"/>
            <a:ext cx="7138078" cy="780576"/>
          </a:xfrm>
          <a:prstGeom prst="rect">
            <a:avLst/>
          </a:prstGeom>
        </p:spPr>
        <p:txBody>
          <a:bodyPr anchor="t" rtlCol="false" tIns="0" lIns="0" bIns="0" rIns="0">
            <a:spAutoFit/>
          </a:bodyPr>
          <a:lstStyle/>
          <a:p>
            <a:pPr algn="just">
              <a:lnSpc>
                <a:spcPts val="3176"/>
              </a:lnSpc>
            </a:pPr>
            <a:r>
              <a:rPr lang="en-US" sz="2268" b="true">
                <a:solidFill>
                  <a:srgbClr val="424242"/>
                </a:solidFill>
                <a:latin typeface="Canva Sans 1 Bold"/>
                <a:ea typeface="Canva Sans 1 Bold"/>
                <a:cs typeface="Canva Sans 1 Bold"/>
                <a:sym typeface="Canva Sans 1 Bold"/>
              </a:rPr>
              <a:t>TabPFN v2</a:t>
            </a:r>
            <a:r>
              <a:rPr lang="en-US" sz="2268">
                <a:solidFill>
                  <a:srgbClr val="424242"/>
                </a:solidFill>
                <a:latin typeface="Canva Sans 1"/>
                <a:ea typeface="Canva Sans 1"/>
                <a:cs typeface="Canva Sans 1"/>
                <a:sym typeface="Canva Sans 1"/>
              </a:rPr>
              <a:t>, a pretrained tabular model that fits </a:t>
            </a:r>
            <a:r>
              <a:rPr lang="en-US" sz="2268">
                <a:solidFill>
                  <a:srgbClr val="424242"/>
                </a:solidFill>
                <a:latin typeface="Canva Sans 1"/>
                <a:ea typeface="Canva Sans 1"/>
                <a:cs typeface="Canva Sans 1"/>
                <a:sym typeface="Canva Sans 1"/>
              </a:rPr>
              <a:t>in </a:t>
            </a:r>
            <a:r>
              <a:rPr lang="en-US" sz="2268">
                <a:solidFill>
                  <a:srgbClr val="424242"/>
                </a:solidFill>
                <a:latin typeface="Canva Sans 1"/>
                <a:ea typeface="Canva Sans 1"/>
                <a:cs typeface="Canva Sans 1"/>
                <a:sym typeface="Canva Sans 1"/>
              </a:rPr>
              <a:t>co</a:t>
            </a:r>
            <a:r>
              <a:rPr lang="en-US" sz="2268">
                <a:solidFill>
                  <a:srgbClr val="424242"/>
                </a:solidFill>
                <a:latin typeface="Canva Sans 1"/>
                <a:ea typeface="Canva Sans 1"/>
                <a:cs typeface="Canva Sans 1"/>
                <a:sym typeface="Canva Sans 1"/>
              </a:rPr>
              <a:t>n</a:t>
            </a:r>
            <a:r>
              <a:rPr lang="en-US" sz="2268">
                <a:solidFill>
                  <a:srgbClr val="424242"/>
                </a:solidFill>
                <a:latin typeface="Canva Sans 1"/>
                <a:ea typeface="Canva Sans 1"/>
                <a:cs typeface="Canva Sans 1"/>
                <a:sym typeface="Canva Sans 1"/>
              </a:rPr>
              <a:t>tex</a:t>
            </a:r>
            <a:r>
              <a:rPr lang="en-US" sz="2268">
                <a:solidFill>
                  <a:srgbClr val="424242"/>
                </a:solidFill>
                <a:latin typeface="Canva Sans 1"/>
                <a:ea typeface="Canva Sans 1"/>
                <a:cs typeface="Canva Sans 1"/>
                <a:sym typeface="Canva Sans 1"/>
              </a:rPr>
              <a:t>t:</a:t>
            </a:r>
            <a:r>
              <a:rPr lang="en-US" sz="2268">
                <a:solidFill>
                  <a:srgbClr val="424242"/>
                </a:solidFill>
                <a:latin typeface="Canva Sans 1"/>
                <a:ea typeface="Canva Sans 1"/>
                <a:cs typeface="Canva Sans 1"/>
                <a:sym typeface="Canva Sans 1"/>
              </a:rPr>
              <a:t> no training epochs, no gradient updates.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D0D7DD"/>
        </a:solidFill>
      </p:bgPr>
    </p:bg>
    <p:spTree>
      <p:nvGrpSpPr>
        <p:cNvPr id="1" name=""/>
        <p:cNvGrpSpPr/>
        <p:nvPr/>
      </p:nvGrpSpPr>
      <p:grpSpPr>
        <a:xfrm>
          <a:off x="0" y="0"/>
          <a:ext cx="0" cy="0"/>
          <a:chOff x="0" y="0"/>
          <a:chExt cx="0" cy="0"/>
        </a:xfrm>
      </p:grpSpPr>
      <p:sp>
        <p:nvSpPr>
          <p:cNvPr name="Freeform 2" id="2"/>
          <p:cNvSpPr/>
          <p:nvPr/>
        </p:nvSpPr>
        <p:spPr>
          <a:xfrm flipH="false" flipV="false" rot="0">
            <a:off x="1177090" y="2231409"/>
            <a:ext cx="16714740" cy="10818995"/>
          </a:xfrm>
          <a:custGeom>
            <a:avLst/>
            <a:gdLst/>
            <a:ahLst/>
            <a:cxnLst/>
            <a:rect r="r" b="b" t="t" l="l"/>
            <a:pathLst>
              <a:path h="10818995" w="16714740">
                <a:moveTo>
                  <a:pt x="0" y="0"/>
                </a:moveTo>
                <a:lnTo>
                  <a:pt x="16714740" y="0"/>
                </a:lnTo>
                <a:lnTo>
                  <a:pt x="16714740" y="10818995"/>
                </a:lnTo>
                <a:lnTo>
                  <a:pt x="0" y="10818995"/>
                </a:lnTo>
                <a:lnTo>
                  <a:pt x="0" y="0"/>
                </a:lnTo>
                <a:close/>
              </a:path>
            </a:pathLst>
          </a:custGeom>
          <a:blipFill>
            <a:blip r:embed="rId2">
              <a:alphaModFix amt="24000"/>
            </a:blip>
            <a:stretch>
              <a:fillRect l="0" t="0" r="0" b="0"/>
            </a:stretch>
          </a:blipFill>
        </p:spPr>
      </p:sp>
      <p:grpSp>
        <p:nvGrpSpPr>
          <p:cNvPr name="Group 3" id="3"/>
          <p:cNvGrpSpPr/>
          <p:nvPr/>
        </p:nvGrpSpPr>
        <p:grpSpPr>
          <a:xfrm rot="0">
            <a:off x="901975" y="3061729"/>
            <a:ext cx="7428904" cy="2998333"/>
            <a:chOff x="0" y="0"/>
            <a:chExt cx="1956584" cy="789684"/>
          </a:xfrm>
        </p:grpSpPr>
        <p:sp>
          <p:nvSpPr>
            <p:cNvPr name="Freeform 4" id="4"/>
            <p:cNvSpPr/>
            <p:nvPr/>
          </p:nvSpPr>
          <p:spPr>
            <a:xfrm flipH="false" flipV="false" rot="0">
              <a:off x="0" y="0"/>
              <a:ext cx="1956584" cy="789684"/>
            </a:xfrm>
            <a:custGeom>
              <a:avLst/>
              <a:gdLst/>
              <a:ahLst/>
              <a:cxnLst/>
              <a:rect r="r" b="b" t="t" l="l"/>
              <a:pathLst>
                <a:path h="789684" w="1956584">
                  <a:moveTo>
                    <a:pt x="68781" y="0"/>
                  </a:moveTo>
                  <a:lnTo>
                    <a:pt x="1887803" y="0"/>
                  </a:lnTo>
                  <a:cubicBezTo>
                    <a:pt x="1925790" y="0"/>
                    <a:pt x="1956584" y="30794"/>
                    <a:pt x="1956584" y="68781"/>
                  </a:cubicBezTo>
                  <a:lnTo>
                    <a:pt x="1956584" y="720904"/>
                  </a:lnTo>
                  <a:cubicBezTo>
                    <a:pt x="1956584" y="758890"/>
                    <a:pt x="1925790" y="789684"/>
                    <a:pt x="1887803" y="789684"/>
                  </a:cubicBezTo>
                  <a:lnTo>
                    <a:pt x="68781" y="789684"/>
                  </a:lnTo>
                  <a:cubicBezTo>
                    <a:pt x="30794" y="789684"/>
                    <a:pt x="0" y="758890"/>
                    <a:pt x="0" y="720904"/>
                  </a:cubicBezTo>
                  <a:lnTo>
                    <a:pt x="0" y="68781"/>
                  </a:lnTo>
                  <a:cubicBezTo>
                    <a:pt x="0" y="30794"/>
                    <a:pt x="30794" y="0"/>
                    <a:pt x="68781" y="0"/>
                  </a:cubicBezTo>
                  <a:close/>
                </a:path>
              </a:pathLst>
            </a:custGeom>
            <a:gradFill rotWithShape="true">
              <a:gsLst>
                <a:gs pos="0">
                  <a:srgbClr val="A0CEFD">
                    <a:alpha val="100000"/>
                  </a:srgbClr>
                </a:gs>
                <a:gs pos="100000">
                  <a:srgbClr val="E4F2FF">
                    <a:alpha val="100000"/>
                  </a:srgbClr>
                </a:gs>
              </a:gsLst>
              <a:lin ang="0"/>
            </a:gradFill>
            <a:ln w="19050" cap="rnd">
              <a:solidFill>
                <a:srgbClr val="424242"/>
              </a:solidFill>
              <a:prstDash val="solid"/>
              <a:round/>
            </a:ln>
          </p:spPr>
        </p:sp>
        <p:sp>
          <p:nvSpPr>
            <p:cNvPr name="TextBox 5" id="5"/>
            <p:cNvSpPr txBox="true"/>
            <p:nvPr/>
          </p:nvSpPr>
          <p:spPr>
            <a:xfrm>
              <a:off x="0" y="-28575"/>
              <a:ext cx="1956584" cy="818259"/>
            </a:xfrm>
            <a:prstGeom prst="rect">
              <a:avLst/>
            </a:prstGeom>
          </p:spPr>
          <p:txBody>
            <a:bodyPr anchor="ctr" rtlCol="false" tIns="50800" lIns="50800" bIns="50800" rIns="50800"/>
            <a:lstStyle/>
            <a:p>
              <a:pPr algn="ctr">
                <a:lnSpc>
                  <a:spcPts val="2015"/>
                </a:lnSpc>
              </a:pPr>
            </a:p>
          </p:txBody>
        </p:sp>
      </p:grpSp>
      <p:grpSp>
        <p:nvGrpSpPr>
          <p:cNvPr name="Group 6" id="6"/>
          <p:cNvGrpSpPr/>
          <p:nvPr/>
        </p:nvGrpSpPr>
        <p:grpSpPr>
          <a:xfrm rot="0">
            <a:off x="1177090" y="3256012"/>
            <a:ext cx="1154202" cy="804358"/>
            <a:chOff x="0" y="0"/>
            <a:chExt cx="303987" cy="211847"/>
          </a:xfrm>
        </p:grpSpPr>
        <p:sp>
          <p:nvSpPr>
            <p:cNvPr name="Freeform 7" id="7"/>
            <p:cNvSpPr/>
            <p:nvPr/>
          </p:nvSpPr>
          <p:spPr>
            <a:xfrm flipH="false" flipV="false" rot="0">
              <a:off x="0" y="0"/>
              <a:ext cx="303987" cy="211847"/>
            </a:xfrm>
            <a:custGeom>
              <a:avLst/>
              <a:gdLst/>
              <a:ahLst/>
              <a:cxnLst/>
              <a:rect r="r" b="b" t="t" l="l"/>
              <a:pathLst>
                <a:path h="211847" w="303987">
                  <a:moveTo>
                    <a:pt x="105924" y="0"/>
                  </a:moveTo>
                  <a:lnTo>
                    <a:pt x="198064" y="0"/>
                  </a:lnTo>
                  <a:cubicBezTo>
                    <a:pt x="256564" y="0"/>
                    <a:pt x="303987" y="47424"/>
                    <a:pt x="303987" y="105924"/>
                  </a:cubicBezTo>
                  <a:lnTo>
                    <a:pt x="303987" y="105924"/>
                  </a:lnTo>
                  <a:cubicBezTo>
                    <a:pt x="303987" y="134016"/>
                    <a:pt x="292827" y="160958"/>
                    <a:pt x="272963" y="180823"/>
                  </a:cubicBezTo>
                  <a:cubicBezTo>
                    <a:pt x="253098" y="200687"/>
                    <a:pt x="226156" y="211847"/>
                    <a:pt x="198064" y="211847"/>
                  </a:cubicBezTo>
                  <a:lnTo>
                    <a:pt x="105924" y="211847"/>
                  </a:lnTo>
                  <a:cubicBezTo>
                    <a:pt x="77831" y="211847"/>
                    <a:pt x="50889" y="200687"/>
                    <a:pt x="31024" y="180823"/>
                  </a:cubicBezTo>
                  <a:cubicBezTo>
                    <a:pt x="11160" y="160958"/>
                    <a:pt x="0" y="134016"/>
                    <a:pt x="0" y="105924"/>
                  </a:cubicBezTo>
                  <a:lnTo>
                    <a:pt x="0" y="105924"/>
                  </a:lnTo>
                  <a:cubicBezTo>
                    <a:pt x="0" y="77831"/>
                    <a:pt x="11160" y="50889"/>
                    <a:pt x="31024" y="31024"/>
                  </a:cubicBezTo>
                  <a:cubicBezTo>
                    <a:pt x="50889" y="11160"/>
                    <a:pt x="77831" y="0"/>
                    <a:pt x="105924" y="0"/>
                  </a:cubicBezTo>
                  <a:close/>
                </a:path>
              </a:pathLst>
            </a:custGeom>
            <a:solidFill>
              <a:srgbClr val="FFFFFF"/>
            </a:solidFill>
            <a:ln w="19050" cap="rnd">
              <a:solidFill>
                <a:srgbClr val="424242"/>
              </a:solidFill>
              <a:prstDash val="solid"/>
              <a:round/>
            </a:ln>
          </p:spPr>
        </p:sp>
        <p:sp>
          <p:nvSpPr>
            <p:cNvPr name="TextBox 8" id="8"/>
            <p:cNvSpPr txBox="true"/>
            <p:nvPr/>
          </p:nvSpPr>
          <p:spPr>
            <a:xfrm>
              <a:off x="0" y="-28575"/>
              <a:ext cx="303987" cy="240422"/>
            </a:xfrm>
            <a:prstGeom prst="rect">
              <a:avLst/>
            </a:prstGeom>
          </p:spPr>
          <p:txBody>
            <a:bodyPr anchor="ctr" rtlCol="false" tIns="50800" lIns="50800" bIns="50800" rIns="50800"/>
            <a:lstStyle/>
            <a:p>
              <a:pPr algn="ctr">
                <a:lnSpc>
                  <a:spcPts val="2015"/>
                </a:lnSpc>
              </a:pPr>
            </a:p>
          </p:txBody>
        </p:sp>
      </p:grpSp>
      <p:grpSp>
        <p:nvGrpSpPr>
          <p:cNvPr name="Group 9" id="9"/>
          <p:cNvGrpSpPr/>
          <p:nvPr/>
        </p:nvGrpSpPr>
        <p:grpSpPr>
          <a:xfrm rot="0">
            <a:off x="2134070" y="6507737"/>
            <a:ext cx="14079103" cy="2998333"/>
            <a:chOff x="0" y="0"/>
            <a:chExt cx="3708077" cy="789684"/>
          </a:xfrm>
        </p:grpSpPr>
        <p:sp>
          <p:nvSpPr>
            <p:cNvPr name="Freeform 10" id="10"/>
            <p:cNvSpPr/>
            <p:nvPr/>
          </p:nvSpPr>
          <p:spPr>
            <a:xfrm flipH="false" flipV="false" rot="0">
              <a:off x="0" y="0"/>
              <a:ext cx="3708077" cy="789684"/>
            </a:xfrm>
            <a:custGeom>
              <a:avLst/>
              <a:gdLst/>
              <a:ahLst/>
              <a:cxnLst/>
              <a:rect r="r" b="b" t="t" l="l"/>
              <a:pathLst>
                <a:path h="789684" w="3708077">
                  <a:moveTo>
                    <a:pt x="36293" y="0"/>
                  </a:moveTo>
                  <a:lnTo>
                    <a:pt x="3671784" y="0"/>
                  </a:lnTo>
                  <a:cubicBezTo>
                    <a:pt x="3691828" y="0"/>
                    <a:pt x="3708077" y="16249"/>
                    <a:pt x="3708077" y="36293"/>
                  </a:cubicBezTo>
                  <a:lnTo>
                    <a:pt x="3708077" y="753392"/>
                  </a:lnTo>
                  <a:cubicBezTo>
                    <a:pt x="3708077" y="773436"/>
                    <a:pt x="3691828" y="789684"/>
                    <a:pt x="3671784" y="789684"/>
                  </a:cubicBezTo>
                  <a:lnTo>
                    <a:pt x="36293" y="789684"/>
                  </a:lnTo>
                  <a:cubicBezTo>
                    <a:pt x="16249" y="789684"/>
                    <a:pt x="0" y="773436"/>
                    <a:pt x="0" y="753392"/>
                  </a:cubicBezTo>
                  <a:lnTo>
                    <a:pt x="0" y="36293"/>
                  </a:lnTo>
                  <a:cubicBezTo>
                    <a:pt x="0" y="16249"/>
                    <a:pt x="16249" y="0"/>
                    <a:pt x="36293" y="0"/>
                  </a:cubicBezTo>
                  <a:close/>
                </a:path>
              </a:pathLst>
            </a:custGeom>
            <a:gradFill rotWithShape="true">
              <a:gsLst>
                <a:gs pos="0">
                  <a:srgbClr val="A0CEFD">
                    <a:alpha val="100000"/>
                  </a:srgbClr>
                </a:gs>
                <a:gs pos="100000">
                  <a:srgbClr val="E4F2FF">
                    <a:alpha val="100000"/>
                  </a:srgbClr>
                </a:gs>
              </a:gsLst>
              <a:lin ang="0"/>
            </a:gradFill>
            <a:ln w="19050" cap="rnd">
              <a:solidFill>
                <a:srgbClr val="424242"/>
              </a:solidFill>
              <a:prstDash val="solid"/>
              <a:round/>
            </a:ln>
          </p:spPr>
        </p:sp>
        <p:sp>
          <p:nvSpPr>
            <p:cNvPr name="TextBox 11" id="11"/>
            <p:cNvSpPr txBox="true"/>
            <p:nvPr/>
          </p:nvSpPr>
          <p:spPr>
            <a:xfrm>
              <a:off x="0" y="-28575"/>
              <a:ext cx="3708077" cy="818259"/>
            </a:xfrm>
            <a:prstGeom prst="rect">
              <a:avLst/>
            </a:prstGeom>
          </p:spPr>
          <p:txBody>
            <a:bodyPr anchor="ctr" rtlCol="false" tIns="50800" lIns="50800" bIns="50800" rIns="50800"/>
            <a:lstStyle/>
            <a:p>
              <a:pPr algn="ctr">
                <a:lnSpc>
                  <a:spcPts val="2015"/>
                </a:lnSpc>
              </a:pPr>
            </a:p>
          </p:txBody>
        </p:sp>
      </p:grpSp>
      <p:grpSp>
        <p:nvGrpSpPr>
          <p:cNvPr name="Group 12" id="12"/>
          <p:cNvGrpSpPr/>
          <p:nvPr/>
        </p:nvGrpSpPr>
        <p:grpSpPr>
          <a:xfrm rot="0">
            <a:off x="8784269" y="3061729"/>
            <a:ext cx="7428904" cy="2998333"/>
            <a:chOff x="0" y="0"/>
            <a:chExt cx="1956584" cy="789684"/>
          </a:xfrm>
        </p:grpSpPr>
        <p:sp>
          <p:nvSpPr>
            <p:cNvPr name="Freeform 13" id="13"/>
            <p:cNvSpPr/>
            <p:nvPr/>
          </p:nvSpPr>
          <p:spPr>
            <a:xfrm flipH="false" flipV="false" rot="0">
              <a:off x="0" y="0"/>
              <a:ext cx="1956584" cy="789684"/>
            </a:xfrm>
            <a:custGeom>
              <a:avLst/>
              <a:gdLst/>
              <a:ahLst/>
              <a:cxnLst/>
              <a:rect r="r" b="b" t="t" l="l"/>
              <a:pathLst>
                <a:path h="789684" w="1956584">
                  <a:moveTo>
                    <a:pt x="68781" y="0"/>
                  </a:moveTo>
                  <a:lnTo>
                    <a:pt x="1887803" y="0"/>
                  </a:lnTo>
                  <a:cubicBezTo>
                    <a:pt x="1925790" y="0"/>
                    <a:pt x="1956584" y="30794"/>
                    <a:pt x="1956584" y="68781"/>
                  </a:cubicBezTo>
                  <a:lnTo>
                    <a:pt x="1956584" y="720904"/>
                  </a:lnTo>
                  <a:cubicBezTo>
                    <a:pt x="1956584" y="758890"/>
                    <a:pt x="1925790" y="789684"/>
                    <a:pt x="1887803" y="789684"/>
                  </a:cubicBezTo>
                  <a:lnTo>
                    <a:pt x="68781" y="789684"/>
                  </a:lnTo>
                  <a:cubicBezTo>
                    <a:pt x="30794" y="789684"/>
                    <a:pt x="0" y="758890"/>
                    <a:pt x="0" y="720904"/>
                  </a:cubicBezTo>
                  <a:lnTo>
                    <a:pt x="0" y="68781"/>
                  </a:lnTo>
                  <a:cubicBezTo>
                    <a:pt x="0" y="30794"/>
                    <a:pt x="30794" y="0"/>
                    <a:pt x="68781" y="0"/>
                  </a:cubicBezTo>
                  <a:close/>
                </a:path>
              </a:pathLst>
            </a:custGeom>
            <a:gradFill rotWithShape="true">
              <a:gsLst>
                <a:gs pos="0">
                  <a:srgbClr val="A0CEFD">
                    <a:alpha val="100000"/>
                  </a:srgbClr>
                </a:gs>
                <a:gs pos="100000">
                  <a:srgbClr val="E4F2FF">
                    <a:alpha val="100000"/>
                  </a:srgbClr>
                </a:gs>
              </a:gsLst>
              <a:lin ang="0"/>
            </a:gradFill>
            <a:ln w="19050" cap="rnd">
              <a:solidFill>
                <a:srgbClr val="424242"/>
              </a:solidFill>
              <a:prstDash val="solid"/>
              <a:round/>
            </a:ln>
          </p:spPr>
        </p:sp>
        <p:sp>
          <p:nvSpPr>
            <p:cNvPr name="TextBox 14" id="14"/>
            <p:cNvSpPr txBox="true"/>
            <p:nvPr/>
          </p:nvSpPr>
          <p:spPr>
            <a:xfrm>
              <a:off x="0" y="-28575"/>
              <a:ext cx="1956584" cy="818259"/>
            </a:xfrm>
            <a:prstGeom prst="rect">
              <a:avLst/>
            </a:prstGeom>
          </p:spPr>
          <p:txBody>
            <a:bodyPr anchor="ctr" rtlCol="false" tIns="50800" lIns="50800" bIns="50800" rIns="50800"/>
            <a:lstStyle/>
            <a:p>
              <a:pPr algn="ctr">
                <a:lnSpc>
                  <a:spcPts val="2015"/>
                </a:lnSpc>
              </a:pPr>
            </a:p>
          </p:txBody>
        </p:sp>
      </p:grpSp>
      <p:grpSp>
        <p:nvGrpSpPr>
          <p:cNvPr name="Group 15" id="15"/>
          <p:cNvGrpSpPr/>
          <p:nvPr/>
        </p:nvGrpSpPr>
        <p:grpSpPr>
          <a:xfrm rot="0">
            <a:off x="9062075" y="3256012"/>
            <a:ext cx="1154202" cy="804358"/>
            <a:chOff x="0" y="0"/>
            <a:chExt cx="303987" cy="211847"/>
          </a:xfrm>
        </p:grpSpPr>
        <p:sp>
          <p:nvSpPr>
            <p:cNvPr name="Freeform 16" id="16"/>
            <p:cNvSpPr/>
            <p:nvPr/>
          </p:nvSpPr>
          <p:spPr>
            <a:xfrm flipH="false" flipV="false" rot="0">
              <a:off x="0" y="0"/>
              <a:ext cx="303987" cy="211847"/>
            </a:xfrm>
            <a:custGeom>
              <a:avLst/>
              <a:gdLst/>
              <a:ahLst/>
              <a:cxnLst/>
              <a:rect r="r" b="b" t="t" l="l"/>
              <a:pathLst>
                <a:path h="211847" w="303987">
                  <a:moveTo>
                    <a:pt x="105924" y="0"/>
                  </a:moveTo>
                  <a:lnTo>
                    <a:pt x="198064" y="0"/>
                  </a:lnTo>
                  <a:cubicBezTo>
                    <a:pt x="256564" y="0"/>
                    <a:pt x="303987" y="47424"/>
                    <a:pt x="303987" y="105924"/>
                  </a:cubicBezTo>
                  <a:lnTo>
                    <a:pt x="303987" y="105924"/>
                  </a:lnTo>
                  <a:cubicBezTo>
                    <a:pt x="303987" y="134016"/>
                    <a:pt x="292827" y="160958"/>
                    <a:pt x="272963" y="180823"/>
                  </a:cubicBezTo>
                  <a:cubicBezTo>
                    <a:pt x="253098" y="200687"/>
                    <a:pt x="226156" y="211847"/>
                    <a:pt x="198064" y="211847"/>
                  </a:cubicBezTo>
                  <a:lnTo>
                    <a:pt x="105924" y="211847"/>
                  </a:lnTo>
                  <a:cubicBezTo>
                    <a:pt x="77831" y="211847"/>
                    <a:pt x="50889" y="200687"/>
                    <a:pt x="31024" y="180823"/>
                  </a:cubicBezTo>
                  <a:cubicBezTo>
                    <a:pt x="11160" y="160958"/>
                    <a:pt x="0" y="134016"/>
                    <a:pt x="0" y="105924"/>
                  </a:cubicBezTo>
                  <a:lnTo>
                    <a:pt x="0" y="105924"/>
                  </a:lnTo>
                  <a:cubicBezTo>
                    <a:pt x="0" y="77831"/>
                    <a:pt x="11160" y="50889"/>
                    <a:pt x="31024" y="31024"/>
                  </a:cubicBezTo>
                  <a:cubicBezTo>
                    <a:pt x="50889" y="11160"/>
                    <a:pt x="77831" y="0"/>
                    <a:pt x="105924" y="0"/>
                  </a:cubicBezTo>
                  <a:close/>
                </a:path>
              </a:pathLst>
            </a:custGeom>
            <a:solidFill>
              <a:srgbClr val="FFFFFF"/>
            </a:solidFill>
            <a:ln w="19050" cap="rnd">
              <a:solidFill>
                <a:srgbClr val="424242"/>
              </a:solidFill>
              <a:prstDash val="solid"/>
              <a:round/>
            </a:ln>
          </p:spPr>
        </p:sp>
        <p:sp>
          <p:nvSpPr>
            <p:cNvPr name="TextBox 17" id="17"/>
            <p:cNvSpPr txBox="true"/>
            <p:nvPr/>
          </p:nvSpPr>
          <p:spPr>
            <a:xfrm>
              <a:off x="0" y="-28575"/>
              <a:ext cx="303987" cy="240422"/>
            </a:xfrm>
            <a:prstGeom prst="rect">
              <a:avLst/>
            </a:prstGeom>
          </p:spPr>
          <p:txBody>
            <a:bodyPr anchor="ctr" rtlCol="false" tIns="50800" lIns="50800" bIns="50800" rIns="50800"/>
            <a:lstStyle/>
            <a:p>
              <a:pPr algn="ctr">
                <a:lnSpc>
                  <a:spcPts val="2015"/>
                </a:lnSpc>
              </a:pPr>
            </a:p>
          </p:txBody>
        </p:sp>
      </p:grpSp>
      <p:grpSp>
        <p:nvGrpSpPr>
          <p:cNvPr name="Group 18" id="18"/>
          <p:cNvGrpSpPr/>
          <p:nvPr/>
        </p:nvGrpSpPr>
        <p:grpSpPr>
          <a:xfrm rot="0">
            <a:off x="2482073" y="6736337"/>
            <a:ext cx="1154202" cy="804358"/>
            <a:chOff x="0" y="0"/>
            <a:chExt cx="303987" cy="211847"/>
          </a:xfrm>
        </p:grpSpPr>
        <p:sp>
          <p:nvSpPr>
            <p:cNvPr name="Freeform 19" id="19"/>
            <p:cNvSpPr/>
            <p:nvPr/>
          </p:nvSpPr>
          <p:spPr>
            <a:xfrm flipH="false" flipV="false" rot="0">
              <a:off x="0" y="0"/>
              <a:ext cx="303987" cy="211847"/>
            </a:xfrm>
            <a:custGeom>
              <a:avLst/>
              <a:gdLst/>
              <a:ahLst/>
              <a:cxnLst/>
              <a:rect r="r" b="b" t="t" l="l"/>
              <a:pathLst>
                <a:path h="211847" w="303987">
                  <a:moveTo>
                    <a:pt x="105924" y="0"/>
                  </a:moveTo>
                  <a:lnTo>
                    <a:pt x="198064" y="0"/>
                  </a:lnTo>
                  <a:cubicBezTo>
                    <a:pt x="256564" y="0"/>
                    <a:pt x="303987" y="47424"/>
                    <a:pt x="303987" y="105924"/>
                  </a:cubicBezTo>
                  <a:lnTo>
                    <a:pt x="303987" y="105924"/>
                  </a:lnTo>
                  <a:cubicBezTo>
                    <a:pt x="303987" y="134016"/>
                    <a:pt x="292827" y="160958"/>
                    <a:pt x="272963" y="180823"/>
                  </a:cubicBezTo>
                  <a:cubicBezTo>
                    <a:pt x="253098" y="200687"/>
                    <a:pt x="226156" y="211847"/>
                    <a:pt x="198064" y="211847"/>
                  </a:cubicBezTo>
                  <a:lnTo>
                    <a:pt x="105924" y="211847"/>
                  </a:lnTo>
                  <a:cubicBezTo>
                    <a:pt x="77831" y="211847"/>
                    <a:pt x="50889" y="200687"/>
                    <a:pt x="31024" y="180823"/>
                  </a:cubicBezTo>
                  <a:cubicBezTo>
                    <a:pt x="11160" y="160958"/>
                    <a:pt x="0" y="134016"/>
                    <a:pt x="0" y="105924"/>
                  </a:cubicBezTo>
                  <a:lnTo>
                    <a:pt x="0" y="105924"/>
                  </a:lnTo>
                  <a:cubicBezTo>
                    <a:pt x="0" y="77831"/>
                    <a:pt x="11160" y="50889"/>
                    <a:pt x="31024" y="31024"/>
                  </a:cubicBezTo>
                  <a:cubicBezTo>
                    <a:pt x="50889" y="11160"/>
                    <a:pt x="77831" y="0"/>
                    <a:pt x="105924" y="0"/>
                  </a:cubicBezTo>
                  <a:close/>
                </a:path>
              </a:pathLst>
            </a:custGeom>
            <a:solidFill>
              <a:srgbClr val="FFFFFF"/>
            </a:solidFill>
            <a:ln w="19050" cap="rnd">
              <a:solidFill>
                <a:srgbClr val="424242"/>
              </a:solidFill>
              <a:prstDash val="solid"/>
              <a:round/>
            </a:ln>
          </p:spPr>
        </p:sp>
        <p:sp>
          <p:nvSpPr>
            <p:cNvPr name="TextBox 20" id="20"/>
            <p:cNvSpPr txBox="true"/>
            <p:nvPr/>
          </p:nvSpPr>
          <p:spPr>
            <a:xfrm>
              <a:off x="0" y="-28575"/>
              <a:ext cx="303987" cy="240422"/>
            </a:xfrm>
            <a:prstGeom prst="rect">
              <a:avLst/>
            </a:prstGeom>
          </p:spPr>
          <p:txBody>
            <a:bodyPr anchor="ctr" rtlCol="false" tIns="50800" lIns="50800" bIns="50800" rIns="50800"/>
            <a:lstStyle/>
            <a:p>
              <a:pPr algn="ctr">
                <a:lnSpc>
                  <a:spcPts val="2015"/>
                </a:lnSpc>
              </a:pPr>
            </a:p>
          </p:txBody>
        </p:sp>
      </p:grpSp>
      <p:sp>
        <p:nvSpPr>
          <p:cNvPr name="TextBox 21" id="21"/>
          <p:cNvSpPr txBox="true"/>
          <p:nvPr/>
        </p:nvSpPr>
        <p:spPr>
          <a:xfrm rot="0">
            <a:off x="1028700" y="1057770"/>
            <a:ext cx="16230600" cy="1406223"/>
          </a:xfrm>
          <a:prstGeom prst="rect">
            <a:avLst/>
          </a:prstGeom>
        </p:spPr>
        <p:txBody>
          <a:bodyPr anchor="t" rtlCol="false" tIns="0" lIns="0" bIns="0" rIns="0">
            <a:spAutoFit/>
          </a:bodyPr>
          <a:lstStyle/>
          <a:p>
            <a:pPr algn="l">
              <a:lnSpc>
                <a:spcPts val="10307"/>
              </a:lnSpc>
            </a:pPr>
            <a:r>
              <a:rPr lang="en-US" sz="10965" spc="-515" b="true">
                <a:solidFill>
                  <a:srgbClr val="424242"/>
                </a:solidFill>
                <a:latin typeface="Open Sauce Heavy"/>
                <a:ea typeface="Open Sauce Heavy"/>
                <a:cs typeface="Open Sauce Heavy"/>
                <a:sym typeface="Open Sauce Heavy"/>
              </a:rPr>
              <a:t>Limitations</a:t>
            </a:r>
          </a:p>
        </p:txBody>
      </p:sp>
      <p:sp>
        <p:nvSpPr>
          <p:cNvPr name="TextBox 22" id="22"/>
          <p:cNvSpPr txBox="true"/>
          <p:nvPr/>
        </p:nvSpPr>
        <p:spPr>
          <a:xfrm rot="0">
            <a:off x="9214039" y="3484462"/>
            <a:ext cx="819524" cy="452247"/>
          </a:xfrm>
          <a:prstGeom prst="rect">
            <a:avLst/>
          </a:prstGeom>
        </p:spPr>
        <p:txBody>
          <a:bodyPr anchor="t" rtlCol="false" tIns="0" lIns="0" bIns="0" rIns="0">
            <a:spAutoFit/>
          </a:bodyPr>
          <a:lstStyle/>
          <a:p>
            <a:pPr algn="ctr">
              <a:lnSpc>
                <a:spcPts val="3383"/>
              </a:lnSpc>
            </a:pPr>
            <a:r>
              <a:rPr lang="en-US" b="true" sz="3600" spc="-169">
                <a:solidFill>
                  <a:srgbClr val="424242"/>
                </a:solidFill>
                <a:latin typeface="Open Sauce Heavy"/>
                <a:ea typeface="Open Sauce Heavy"/>
                <a:cs typeface="Open Sauce Heavy"/>
                <a:sym typeface="Open Sauce Heavy"/>
              </a:rPr>
              <a:t>02</a:t>
            </a:r>
          </a:p>
        </p:txBody>
      </p:sp>
      <p:sp>
        <p:nvSpPr>
          <p:cNvPr name="TextBox 23" id="23"/>
          <p:cNvSpPr txBox="true"/>
          <p:nvPr/>
        </p:nvSpPr>
        <p:spPr>
          <a:xfrm rot="0">
            <a:off x="2634037" y="6964786"/>
            <a:ext cx="819524" cy="452247"/>
          </a:xfrm>
          <a:prstGeom prst="rect">
            <a:avLst/>
          </a:prstGeom>
        </p:spPr>
        <p:txBody>
          <a:bodyPr anchor="t" rtlCol="false" tIns="0" lIns="0" bIns="0" rIns="0">
            <a:spAutoFit/>
          </a:bodyPr>
          <a:lstStyle/>
          <a:p>
            <a:pPr algn="ctr">
              <a:lnSpc>
                <a:spcPts val="3383"/>
              </a:lnSpc>
            </a:pPr>
            <a:r>
              <a:rPr lang="en-US" b="true" sz="3600" spc="-169">
                <a:solidFill>
                  <a:srgbClr val="424242"/>
                </a:solidFill>
                <a:latin typeface="Open Sauce Heavy"/>
                <a:ea typeface="Open Sauce Heavy"/>
                <a:cs typeface="Open Sauce Heavy"/>
                <a:sym typeface="Open Sauce Heavy"/>
              </a:rPr>
              <a:t>03</a:t>
            </a:r>
          </a:p>
        </p:txBody>
      </p:sp>
      <p:sp>
        <p:nvSpPr>
          <p:cNvPr name="TextBox 24" id="24"/>
          <p:cNvSpPr txBox="true"/>
          <p:nvPr/>
        </p:nvSpPr>
        <p:spPr>
          <a:xfrm rot="0">
            <a:off x="1329054" y="3484462"/>
            <a:ext cx="819524" cy="452247"/>
          </a:xfrm>
          <a:prstGeom prst="rect">
            <a:avLst/>
          </a:prstGeom>
        </p:spPr>
        <p:txBody>
          <a:bodyPr anchor="t" rtlCol="false" tIns="0" lIns="0" bIns="0" rIns="0">
            <a:spAutoFit/>
          </a:bodyPr>
          <a:lstStyle/>
          <a:p>
            <a:pPr algn="ctr">
              <a:lnSpc>
                <a:spcPts val="3383"/>
              </a:lnSpc>
            </a:pPr>
            <a:r>
              <a:rPr lang="en-US" b="true" sz="3600" spc="-169">
                <a:solidFill>
                  <a:srgbClr val="424242"/>
                </a:solidFill>
                <a:latin typeface="Open Sauce Heavy"/>
                <a:ea typeface="Open Sauce Heavy"/>
                <a:cs typeface="Open Sauce Heavy"/>
                <a:sym typeface="Open Sauce Heavy"/>
              </a:rPr>
              <a:t>01</a:t>
            </a:r>
          </a:p>
        </p:txBody>
      </p:sp>
      <p:sp>
        <p:nvSpPr>
          <p:cNvPr name="TextBox 25" id="25"/>
          <p:cNvSpPr txBox="true"/>
          <p:nvPr/>
        </p:nvSpPr>
        <p:spPr>
          <a:xfrm rot="0">
            <a:off x="8793794" y="4027020"/>
            <a:ext cx="7419379" cy="1660043"/>
          </a:xfrm>
          <a:prstGeom prst="rect">
            <a:avLst/>
          </a:prstGeom>
        </p:spPr>
        <p:txBody>
          <a:bodyPr anchor="t" rtlCol="false" tIns="0" lIns="0" bIns="0" rIns="0">
            <a:spAutoFit/>
          </a:bodyPr>
          <a:lstStyle/>
          <a:p>
            <a:pPr algn="ctr">
              <a:lnSpc>
                <a:spcPts val="4279"/>
              </a:lnSpc>
              <a:spcBef>
                <a:spcPct val="0"/>
              </a:spcBef>
            </a:pPr>
            <a:r>
              <a:rPr lang="en-US" b="true" sz="3396" spc="-190">
                <a:solidFill>
                  <a:srgbClr val="424242"/>
                </a:solidFill>
                <a:latin typeface="Poppins Bold"/>
                <a:ea typeface="Poppins Bold"/>
                <a:cs typeface="Poppins Bold"/>
                <a:sym typeface="Poppins Bold"/>
              </a:rPr>
              <a:t>Absence of real-time ambient temperature, humidity, and barometric pressure metrics.</a:t>
            </a:r>
          </a:p>
        </p:txBody>
      </p:sp>
      <p:sp>
        <p:nvSpPr>
          <p:cNvPr name="TextBox 26" id="26"/>
          <p:cNvSpPr txBox="true"/>
          <p:nvPr/>
        </p:nvSpPr>
        <p:spPr>
          <a:xfrm rot="0">
            <a:off x="1038430" y="4027020"/>
            <a:ext cx="7155993" cy="1687823"/>
          </a:xfrm>
          <a:prstGeom prst="rect">
            <a:avLst/>
          </a:prstGeom>
        </p:spPr>
        <p:txBody>
          <a:bodyPr anchor="t" rtlCol="false" tIns="0" lIns="0" bIns="0" rIns="0">
            <a:spAutoFit/>
          </a:bodyPr>
          <a:lstStyle/>
          <a:p>
            <a:pPr algn="ctr">
              <a:lnSpc>
                <a:spcPts val="4411"/>
              </a:lnSpc>
              <a:spcBef>
                <a:spcPct val="0"/>
              </a:spcBef>
            </a:pPr>
            <a:r>
              <a:rPr lang="en-US" b="true" sz="3500" spc="-196">
                <a:solidFill>
                  <a:srgbClr val="424242"/>
                </a:solidFill>
                <a:latin typeface="Poppins Bold"/>
                <a:ea typeface="Poppins Bold"/>
                <a:cs typeface="Poppins Bold"/>
                <a:sym typeface="Poppins Bold"/>
              </a:rPr>
              <a:t>Dataset skewed toward insulator test profiles, limiting generalization .</a:t>
            </a:r>
          </a:p>
        </p:txBody>
      </p:sp>
      <p:sp>
        <p:nvSpPr>
          <p:cNvPr name="TextBox 27" id="27"/>
          <p:cNvSpPr txBox="true"/>
          <p:nvPr/>
        </p:nvSpPr>
        <p:spPr>
          <a:xfrm rot="0">
            <a:off x="3453561" y="7483544"/>
            <a:ext cx="11944685" cy="1815932"/>
          </a:xfrm>
          <a:prstGeom prst="rect">
            <a:avLst/>
          </a:prstGeom>
        </p:spPr>
        <p:txBody>
          <a:bodyPr anchor="t" rtlCol="false" tIns="0" lIns="0" bIns="0" rIns="0">
            <a:spAutoFit/>
          </a:bodyPr>
          <a:lstStyle/>
          <a:p>
            <a:pPr algn="ctr">
              <a:lnSpc>
                <a:spcPts val="4728"/>
              </a:lnSpc>
              <a:spcBef>
                <a:spcPct val="0"/>
              </a:spcBef>
            </a:pPr>
            <a:r>
              <a:rPr lang="en-US" b="true" sz="3752" spc="-210">
                <a:solidFill>
                  <a:srgbClr val="424242"/>
                </a:solidFill>
                <a:latin typeface="Poppins Bold"/>
                <a:ea typeface="Poppins Bold"/>
                <a:cs typeface="Poppins Bold"/>
                <a:sym typeface="Poppins Bold"/>
              </a:rPr>
              <a:t>The computation restricts us to a search space of the best possible combination of 4 resistors in a single stage.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D0D7DD"/>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D0D7DD"/>
        </a:solidFill>
      </p:bgPr>
    </p:bg>
    <p:spTree>
      <p:nvGrpSpPr>
        <p:cNvPr id="1" name=""/>
        <p:cNvGrpSpPr/>
        <p:nvPr/>
      </p:nvGrpSpPr>
      <p:grpSpPr>
        <a:xfrm>
          <a:off x="0" y="0"/>
          <a:ext cx="0" cy="0"/>
          <a:chOff x="0" y="0"/>
          <a:chExt cx="0" cy="0"/>
        </a:xfrm>
      </p:grpSpPr>
      <p:sp>
        <p:nvSpPr>
          <p:cNvPr name="Freeform 2" id="2"/>
          <p:cNvSpPr/>
          <p:nvPr/>
        </p:nvSpPr>
        <p:spPr>
          <a:xfrm flipH="false" flipV="false" rot="0">
            <a:off x="-924022" y="5188961"/>
            <a:ext cx="4716981" cy="6251420"/>
          </a:xfrm>
          <a:custGeom>
            <a:avLst/>
            <a:gdLst/>
            <a:ahLst/>
            <a:cxnLst/>
            <a:rect r="r" b="b" t="t" l="l"/>
            <a:pathLst>
              <a:path h="6251420" w="4716981">
                <a:moveTo>
                  <a:pt x="0" y="0"/>
                </a:moveTo>
                <a:lnTo>
                  <a:pt x="4716981" y="0"/>
                </a:lnTo>
                <a:lnTo>
                  <a:pt x="4716981" y="6251421"/>
                </a:lnTo>
                <a:lnTo>
                  <a:pt x="0" y="6251421"/>
                </a:lnTo>
                <a:lnTo>
                  <a:pt x="0" y="0"/>
                </a:lnTo>
                <a:close/>
              </a:path>
            </a:pathLst>
          </a:custGeom>
          <a:blipFill>
            <a:blip r:embed="rId2">
              <a:alphaModFix amt="2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925852">
            <a:off x="-2330235" y="2657262"/>
            <a:ext cx="9386678" cy="10557613"/>
          </a:xfrm>
          <a:custGeom>
            <a:avLst/>
            <a:gdLst/>
            <a:ahLst/>
            <a:cxnLst/>
            <a:rect r="r" b="b" t="t" l="l"/>
            <a:pathLst>
              <a:path h="10557613" w="9386678">
                <a:moveTo>
                  <a:pt x="0" y="0"/>
                </a:moveTo>
                <a:lnTo>
                  <a:pt x="9386678" y="0"/>
                </a:lnTo>
                <a:lnTo>
                  <a:pt x="9386678" y="10557613"/>
                </a:lnTo>
                <a:lnTo>
                  <a:pt x="0" y="10557613"/>
                </a:lnTo>
                <a:lnTo>
                  <a:pt x="0" y="0"/>
                </a:lnTo>
                <a:close/>
              </a:path>
            </a:pathLst>
          </a:custGeom>
          <a:blipFill>
            <a:blip r:embed="rId4">
              <a:alphaModFix amt="25000"/>
            </a:blip>
            <a:stretch>
              <a:fillRect l="0" t="0" r="0" b="0"/>
            </a:stretch>
          </a:blipFill>
        </p:spPr>
      </p:sp>
      <p:sp>
        <p:nvSpPr>
          <p:cNvPr name="Freeform 4" id="4"/>
          <p:cNvSpPr/>
          <p:nvPr/>
        </p:nvSpPr>
        <p:spPr>
          <a:xfrm flipH="false" flipV="false" rot="0">
            <a:off x="10343327" y="-1437860"/>
            <a:ext cx="12858845" cy="4933121"/>
          </a:xfrm>
          <a:custGeom>
            <a:avLst/>
            <a:gdLst/>
            <a:ahLst/>
            <a:cxnLst/>
            <a:rect r="r" b="b" t="t" l="l"/>
            <a:pathLst>
              <a:path h="4933121" w="12858845">
                <a:moveTo>
                  <a:pt x="0" y="0"/>
                </a:moveTo>
                <a:lnTo>
                  <a:pt x="12858845" y="0"/>
                </a:lnTo>
                <a:lnTo>
                  <a:pt x="12858845" y="4933120"/>
                </a:lnTo>
                <a:lnTo>
                  <a:pt x="0" y="4933120"/>
                </a:lnTo>
                <a:lnTo>
                  <a:pt x="0" y="0"/>
                </a:lnTo>
                <a:close/>
              </a:path>
            </a:pathLst>
          </a:custGeom>
          <a:blipFill>
            <a:blip r:embed="rId5">
              <a:alphaModFix amt="25000"/>
            </a:blip>
            <a:stretch>
              <a:fillRect l="0" t="0" r="0" b="0"/>
            </a:stretch>
          </a:blipFill>
        </p:spPr>
      </p:sp>
      <p:grpSp>
        <p:nvGrpSpPr>
          <p:cNvPr name="Group 5" id="5"/>
          <p:cNvGrpSpPr/>
          <p:nvPr/>
        </p:nvGrpSpPr>
        <p:grpSpPr>
          <a:xfrm rot="0">
            <a:off x="8577022" y="508053"/>
            <a:ext cx="4096174" cy="4331915"/>
            <a:chOff x="0" y="0"/>
            <a:chExt cx="1078828" cy="1140916"/>
          </a:xfrm>
        </p:grpSpPr>
        <p:sp>
          <p:nvSpPr>
            <p:cNvPr name="Freeform 6" id="6"/>
            <p:cNvSpPr/>
            <p:nvPr/>
          </p:nvSpPr>
          <p:spPr>
            <a:xfrm flipH="false" flipV="false" rot="0">
              <a:off x="0" y="0"/>
              <a:ext cx="1078828" cy="1140916"/>
            </a:xfrm>
            <a:custGeom>
              <a:avLst/>
              <a:gdLst/>
              <a:ahLst/>
              <a:cxnLst/>
              <a:rect r="r" b="b" t="t" l="l"/>
              <a:pathLst>
                <a:path h="1140916" w="1078828">
                  <a:moveTo>
                    <a:pt x="134193" y="0"/>
                  </a:moveTo>
                  <a:lnTo>
                    <a:pt x="944635" y="0"/>
                  </a:lnTo>
                  <a:cubicBezTo>
                    <a:pt x="980225" y="0"/>
                    <a:pt x="1014358" y="14138"/>
                    <a:pt x="1039524" y="39304"/>
                  </a:cubicBezTo>
                  <a:cubicBezTo>
                    <a:pt x="1064690" y="64470"/>
                    <a:pt x="1078828" y="98603"/>
                    <a:pt x="1078828" y="134193"/>
                  </a:cubicBezTo>
                  <a:lnTo>
                    <a:pt x="1078828" y="1006723"/>
                  </a:lnTo>
                  <a:cubicBezTo>
                    <a:pt x="1078828" y="1080836"/>
                    <a:pt x="1018748" y="1140916"/>
                    <a:pt x="944635" y="1140916"/>
                  </a:cubicBezTo>
                  <a:lnTo>
                    <a:pt x="134193" y="1140916"/>
                  </a:lnTo>
                  <a:cubicBezTo>
                    <a:pt x="98603" y="1140916"/>
                    <a:pt x="64470" y="1126778"/>
                    <a:pt x="39304" y="1101612"/>
                  </a:cubicBezTo>
                  <a:cubicBezTo>
                    <a:pt x="14138" y="1076446"/>
                    <a:pt x="0" y="1042313"/>
                    <a:pt x="0" y="1006723"/>
                  </a:cubicBezTo>
                  <a:lnTo>
                    <a:pt x="0" y="134193"/>
                  </a:lnTo>
                  <a:cubicBezTo>
                    <a:pt x="0" y="98603"/>
                    <a:pt x="14138" y="64470"/>
                    <a:pt x="39304" y="39304"/>
                  </a:cubicBezTo>
                  <a:cubicBezTo>
                    <a:pt x="64470" y="14138"/>
                    <a:pt x="98603" y="0"/>
                    <a:pt x="134193" y="0"/>
                  </a:cubicBezTo>
                  <a:close/>
                </a:path>
              </a:pathLst>
            </a:custGeom>
            <a:solidFill>
              <a:srgbClr val="D0D7DD"/>
            </a:solidFill>
            <a:ln w="19050" cap="rnd">
              <a:solidFill>
                <a:srgbClr val="424242"/>
              </a:solidFill>
              <a:prstDash val="solid"/>
              <a:round/>
            </a:ln>
          </p:spPr>
        </p:sp>
        <p:sp>
          <p:nvSpPr>
            <p:cNvPr name="TextBox 7" id="7"/>
            <p:cNvSpPr txBox="true"/>
            <p:nvPr/>
          </p:nvSpPr>
          <p:spPr>
            <a:xfrm>
              <a:off x="0" y="-28575"/>
              <a:ext cx="1078828" cy="1169491"/>
            </a:xfrm>
            <a:prstGeom prst="rect">
              <a:avLst/>
            </a:prstGeom>
          </p:spPr>
          <p:txBody>
            <a:bodyPr anchor="ctr" rtlCol="false" tIns="50800" lIns="50800" bIns="50800" rIns="50800"/>
            <a:lstStyle/>
            <a:p>
              <a:pPr algn="ctr">
                <a:lnSpc>
                  <a:spcPts val="2015"/>
                </a:lnSpc>
              </a:pPr>
            </a:p>
          </p:txBody>
        </p:sp>
      </p:grpSp>
      <p:grpSp>
        <p:nvGrpSpPr>
          <p:cNvPr name="Group 8" id="8"/>
          <p:cNvGrpSpPr/>
          <p:nvPr/>
        </p:nvGrpSpPr>
        <p:grpSpPr>
          <a:xfrm rot="0">
            <a:off x="8577022" y="5355323"/>
            <a:ext cx="4096174" cy="4331915"/>
            <a:chOff x="0" y="0"/>
            <a:chExt cx="1078828" cy="1140916"/>
          </a:xfrm>
        </p:grpSpPr>
        <p:sp>
          <p:nvSpPr>
            <p:cNvPr name="Freeform 9" id="9"/>
            <p:cNvSpPr/>
            <p:nvPr/>
          </p:nvSpPr>
          <p:spPr>
            <a:xfrm flipH="false" flipV="false" rot="0">
              <a:off x="0" y="0"/>
              <a:ext cx="1078828" cy="1140916"/>
            </a:xfrm>
            <a:custGeom>
              <a:avLst/>
              <a:gdLst/>
              <a:ahLst/>
              <a:cxnLst/>
              <a:rect r="r" b="b" t="t" l="l"/>
              <a:pathLst>
                <a:path h="1140916" w="1078828">
                  <a:moveTo>
                    <a:pt x="134193" y="0"/>
                  </a:moveTo>
                  <a:lnTo>
                    <a:pt x="944635" y="0"/>
                  </a:lnTo>
                  <a:cubicBezTo>
                    <a:pt x="980225" y="0"/>
                    <a:pt x="1014358" y="14138"/>
                    <a:pt x="1039524" y="39304"/>
                  </a:cubicBezTo>
                  <a:cubicBezTo>
                    <a:pt x="1064690" y="64470"/>
                    <a:pt x="1078828" y="98603"/>
                    <a:pt x="1078828" y="134193"/>
                  </a:cubicBezTo>
                  <a:lnTo>
                    <a:pt x="1078828" y="1006723"/>
                  </a:lnTo>
                  <a:cubicBezTo>
                    <a:pt x="1078828" y="1080836"/>
                    <a:pt x="1018748" y="1140916"/>
                    <a:pt x="944635" y="1140916"/>
                  </a:cubicBezTo>
                  <a:lnTo>
                    <a:pt x="134193" y="1140916"/>
                  </a:lnTo>
                  <a:cubicBezTo>
                    <a:pt x="98603" y="1140916"/>
                    <a:pt x="64470" y="1126778"/>
                    <a:pt x="39304" y="1101612"/>
                  </a:cubicBezTo>
                  <a:cubicBezTo>
                    <a:pt x="14138" y="1076446"/>
                    <a:pt x="0" y="1042313"/>
                    <a:pt x="0" y="1006723"/>
                  </a:cubicBezTo>
                  <a:lnTo>
                    <a:pt x="0" y="134193"/>
                  </a:lnTo>
                  <a:cubicBezTo>
                    <a:pt x="0" y="98603"/>
                    <a:pt x="14138" y="64470"/>
                    <a:pt x="39304" y="39304"/>
                  </a:cubicBezTo>
                  <a:cubicBezTo>
                    <a:pt x="64470" y="14138"/>
                    <a:pt x="98603" y="0"/>
                    <a:pt x="134193" y="0"/>
                  </a:cubicBezTo>
                  <a:close/>
                </a:path>
              </a:pathLst>
            </a:custGeom>
            <a:solidFill>
              <a:srgbClr val="D0D7DD"/>
            </a:solidFill>
            <a:ln w="19050" cap="rnd">
              <a:solidFill>
                <a:srgbClr val="424242"/>
              </a:solidFill>
              <a:prstDash val="solid"/>
              <a:round/>
            </a:ln>
          </p:spPr>
        </p:sp>
        <p:sp>
          <p:nvSpPr>
            <p:cNvPr name="TextBox 10" id="10"/>
            <p:cNvSpPr txBox="true"/>
            <p:nvPr/>
          </p:nvSpPr>
          <p:spPr>
            <a:xfrm>
              <a:off x="0" y="-28575"/>
              <a:ext cx="1078828" cy="1169491"/>
            </a:xfrm>
            <a:prstGeom prst="rect">
              <a:avLst/>
            </a:prstGeom>
          </p:spPr>
          <p:txBody>
            <a:bodyPr anchor="ctr" rtlCol="false" tIns="50800" lIns="50800" bIns="50800" rIns="50800"/>
            <a:lstStyle/>
            <a:p>
              <a:pPr algn="ctr">
                <a:lnSpc>
                  <a:spcPts val="2015"/>
                </a:lnSpc>
              </a:pPr>
            </a:p>
          </p:txBody>
        </p:sp>
      </p:grpSp>
      <p:grpSp>
        <p:nvGrpSpPr>
          <p:cNvPr name="Group 11" id="11"/>
          <p:cNvGrpSpPr/>
          <p:nvPr/>
        </p:nvGrpSpPr>
        <p:grpSpPr>
          <a:xfrm rot="0">
            <a:off x="13163126" y="508053"/>
            <a:ext cx="4096174" cy="4331915"/>
            <a:chOff x="0" y="0"/>
            <a:chExt cx="1078828" cy="1140916"/>
          </a:xfrm>
        </p:grpSpPr>
        <p:sp>
          <p:nvSpPr>
            <p:cNvPr name="Freeform 12" id="12"/>
            <p:cNvSpPr/>
            <p:nvPr/>
          </p:nvSpPr>
          <p:spPr>
            <a:xfrm flipH="false" flipV="false" rot="0">
              <a:off x="0" y="0"/>
              <a:ext cx="1078828" cy="1140916"/>
            </a:xfrm>
            <a:custGeom>
              <a:avLst/>
              <a:gdLst/>
              <a:ahLst/>
              <a:cxnLst/>
              <a:rect r="r" b="b" t="t" l="l"/>
              <a:pathLst>
                <a:path h="1140916" w="1078828">
                  <a:moveTo>
                    <a:pt x="134193" y="0"/>
                  </a:moveTo>
                  <a:lnTo>
                    <a:pt x="944635" y="0"/>
                  </a:lnTo>
                  <a:cubicBezTo>
                    <a:pt x="980225" y="0"/>
                    <a:pt x="1014358" y="14138"/>
                    <a:pt x="1039524" y="39304"/>
                  </a:cubicBezTo>
                  <a:cubicBezTo>
                    <a:pt x="1064690" y="64470"/>
                    <a:pt x="1078828" y="98603"/>
                    <a:pt x="1078828" y="134193"/>
                  </a:cubicBezTo>
                  <a:lnTo>
                    <a:pt x="1078828" y="1006723"/>
                  </a:lnTo>
                  <a:cubicBezTo>
                    <a:pt x="1078828" y="1080836"/>
                    <a:pt x="1018748" y="1140916"/>
                    <a:pt x="944635" y="1140916"/>
                  </a:cubicBezTo>
                  <a:lnTo>
                    <a:pt x="134193" y="1140916"/>
                  </a:lnTo>
                  <a:cubicBezTo>
                    <a:pt x="98603" y="1140916"/>
                    <a:pt x="64470" y="1126778"/>
                    <a:pt x="39304" y="1101612"/>
                  </a:cubicBezTo>
                  <a:cubicBezTo>
                    <a:pt x="14138" y="1076446"/>
                    <a:pt x="0" y="1042313"/>
                    <a:pt x="0" y="1006723"/>
                  </a:cubicBezTo>
                  <a:lnTo>
                    <a:pt x="0" y="134193"/>
                  </a:lnTo>
                  <a:cubicBezTo>
                    <a:pt x="0" y="98603"/>
                    <a:pt x="14138" y="64470"/>
                    <a:pt x="39304" y="39304"/>
                  </a:cubicBezTo>
                  <a:cubicBezTo>
                    <a:pt x="64470" y="14138"/>
                    <a:pt x="98603" y="0"/>
                    <a:pt x="134193" y="0"/>
                  </a:cubicBezTo>
                  <a:close/>
                </a:path>
              </a:pathLst>
            </a:custGeom>
            <a:solidFill>
              <a:srgbClr val="D0D7DD"/>
            </a:solidFill>
            <a:ln w="19050" cap="rnd">
              <a:solidFill>
                <a:srgbClr val="424242"/>
              </a:solidFill>
              <a:prstDash val="solid"/>
              <a:round/>
            </a:ln>
          </p:spPr>
        </p:sp>
        <p:sp>
          <p:nvSpPr>
            <p:cNvPr name="TextBox 13" id="13"/>
            <p:cNvSpPr txBox="true"/>
            <p:nvPr/>
          </p:nvSpPr>
          <p:spPr>
            <a:xfrm>
              <a:off x="0" y="-28575"/>
              <a:ext cx="1078828" cy="1169491"/>
            </a:xfrm>
            <a:prstGeom prst="rect">
              <a:avLst/>
            </a:prstGeom>
          </p:spPr>
          <p:txBody>
            <a:bodyPr anchor="ctr" rtlCol="false" tIns="50800" lIns="50800" bIns="50800" rIns="50800"/>
            <a:lstStyle/>
            <a:p>
              <a:pPr algn="ctr">
                <a:lnSpc>
                  <a:spcPts val="2015"/>
                </a:lnSpc>
              </a:pPr>
            </a:p>
          </p:txBody>
        </p:sp>
      </p:grpSp>
      <p:grpSp>
        <p:nvGrpSpPr>
          <p:cNvPr name="Group 14" id="14"/>
          <p:cNvGrpSpPr/>
          <p:nvPr/>
        </p:nvGrpSpPr>
        <p:grpSpPr>
          <a:xfrm rot="0">
            <a:off x="8844161" y="741194"/>
            <a:ext cx="3562533" cy="2740408"/>
            <a:chOff x="0" y="0"/>
            <a:chExt cx="978955" cy="753042"/>
          </a:xfrm>
        </p:grpSpPr>
        <p:sp>
          <p:nvSpPr>
            <p:cNvPr name="Freeform 15" id="15"/>
            <p:cNvSpPr/>
            <p:nvPr/>
          </p:nvSpPr>
          <p:spPr>
            <a:xfrm flipH="false" flipV="false" rot="0">
              <a:off x="0" y="0"/>
              <a:ext cx="978955" cy="753042"/>
            </a:xfrm>
            <a:custGeom>
              <a:avLst/>
              <a:gdLst/>
              <a:ahLst/>
              <a:cxnLst/>
              <a:rect r="r" b="b" t="t" l="l"/>
              <a:pathLst>
                <a:path h="753042" w="978955">
                  <a:moveTo>
                    <a:pt x="117350" y="0"/>
                  </a:moveTo>
                  <a:lnTo>
                    <a:pt x="861605" y="0"/>
                  </a:lnTo>
                  <a:cubicBezTo>
                    <a:pt x="926416" y="0"/>
                    <a:pt x="978955" y="52539"/>
                    <a:pt x="978955" y="117350"/>
                  </a:cubicBezTo>
                  <a:lnTo>
                    <a:pt x="978955" y="635692"/>
                  </a:lnTo>
                  <a:cubicBezTo>
                    <a:pt x="978955" y="666815"/>
                    <a:pt x="966592" y="696664"/>
                    <a:pt x="944584" y="718671"/>
                  </a:cubicBezTo>
                  <a:cubicBezTo>
                    <a:pt x="922577" y="740678"/>
                    <a:pt x="892729" y="753042"/>
                    <a:pt x="861605" y="753042"/>
                  </a:cubicBezTo>
                  <a:lnTo>
                    <a:pt x="117350" y="753042"/>
                  </a:lnTo>
                  <a:cubicBezTo>
                    <a:pt x="52539" y="753042"/>
                    <a:pt x="0" y="700503"/>
                    <a:pt x="0" y="635692"/>
                  </a:cubicBezTo>
                  <a:lnTo>
                    <a:pt x="0" y="117350"/>
                  </a:lnTo>
                  <a:cubicBezTo>
                    <a:pt x="0" y="86227"/>
                    <a:pt x="12364" y="56378"/>
                    <a:pt x="34371" y="34371"/>
                  </a:cubicBezTo>
                  <a:cubicBezTo>
                    <a:pt x="56378" y="12364"/>
                    <a:pt x="86227" y="0"/>
                    <a:pt x="117350" y="0"/>
                  </a:cubicBezTo>
                  <a:close/>
                </a:path>
              </a:pathLst>
            </a:custGeom>
            <a:blipFill>
              <a:blip r:embed="rId6"/>
              <a:stretch>
                <a:fillRect l="-65013" t="0" r="-48040" b="-7935"/>
              </a:stretch>
            </a:blipFill>
            <a:ln w="19050" cap="rnd">
              <a:solidFill>
                <a:srgbClr val="424242"/>
              </a:solidFill>
              <a:prstDash val="solid"/>
              <a:round/>
            </a:ln>
          </p:spPr>
        </p:sp>
      </p:grpSp>
      <p:grpSp>
        <p:nvGrpSpPr>
          <p:cNvPr name="Group 16" id="16"/>
          <p:cNvGrpSpPr/>
          <p:nvPr/>
        </p:nvGrpSpPr>
        <p:grpSpPr>
          <a:xfrm rot="0">
            <a:off x="8844161" y="5588464"/>
            <a:ext cx="3562533" cy="2740408"/>
            <a:chOff x="0" y="0"/>
            <a:chExt cx="978955" cy="753042"/>
          </a:xfrm>
        </p:grpSpPr>
        <p:sp>
          <p:nvSpPr>
            <p:cNvPr name="Freeform 17" id="17"/>
            <p:cNvSpPr/>
            <p:nvPr/>
          </p:nvSpPr>
          <p:spPr>
            <a:xfrm flipH="false" flipV="false" rot="0">
              <a:off x="0" y="0"/>
              <a:ext cx="978955" cy="753042"/>
            </a:xfrm>
            <a:custGeom>
              <a:avLst/>
              <a:gdLst/>
              <a:ahLst/>
              <a:cxnLst/>
              <a:rect r="r" b="b" t="t" l="l"/>
              <a:pathLst>
                <a:path h="753042" w="978955">
                  <a:moveTo>
                    <a:pt x="117350" y="0"/>
                  </a:moveTo>
                  <a:lnTo>
                    <a:pt x="861605" y="0"/>
                  </a:lnTo>
                  <a:cubicBezTo>
                    <a:pt x="926416" y="0"/>
                    <a:pt x="978955" y="52539"/>
                    <a:pt x="978955" y="117350"/>
                  </a:cubicBezTo>
                  <a:lnTo>
                    <a:pt x="978955" y="635692"/>
                  </a:lnTo>
                  <a:cubicBezTo>
                    <a:pt x="978955" y="666815"/>
                    <a:pt x="966592" y="696664"/>
                    <a:pt x="944584" y="718671"/>
                  </a:cubicBezTo>
                  <a:cubicBezTo>
                    <a:pt x="922577" y="740678"/>
                    <a:pt x="892729" y="753042"/>
                    <a:pt x="861605" y="753042"/>
                  </a:cubicBezTo>
                  <a:lnTo>
                    <a:pt x="117350" y="753042"/>
                  </a:lnTo>
                  <a:cubicBezTo>
                    <a:pt x="52539" y="753042"/>
                    <a:pt x="0" y="700503"/>
                    <a:pt x="0" y="635692"/>
                  </a:cubicBezTo>
                  <a:lnTo>
                    <a:pt x="0" y="117350"/>
                  </a:lnTo>
                  <a:cubicBezTo>
                    <a:pt x="0" y="86227"/>
                    <a:pt x="12364" y="56378"/>
                    <a:pt x="34371" y="34371"/>
                  </a:cubicBezTo>
                  <a:cubicBezTo>
                    <a:pt x="56378" y="12364"/>
                    <a:pt x="86227" y="0"/>
                    <a:pt x="117350" y="0"/>
                  </a:cubicBezTo>
                  <a:close/>
                </a:path>
              </a:pathLst>
            </a:custGeom>
            <a:blipFill>
              <a:blip r:embed="rId6"/>
              <a:stretch>
                <a:fillRect l="-65013" t="0" r="-48040" b="-7935"/>
              </a:stretch>
            </a:blipFill>
            <a:ln w="19050" cap="rnd">
              <a:solidFill>
                <a:srgbClr val="424242"/>
              </a:solidFill>
              <a:prstDash val="solid"/>
              <a:round/>
            </a:ln>
          </p:spPr>
        </p:sp>
      </p:grpSp>
      <p:grpSp>
        <p:nvGrpSpPr>
          <p:cNvPr name="Group 18" id="18"/>
          <p:cNvGrpSpPr/>
          <p:nvPr/>
        </p:nvGrpSpPr>
        <p:grpSpPr>
          <a:xfrm rot="0">
            <a:off x="13429946" y="741194"/>
            <a:ext cx="3562533" cy="2740408"/>
            <a:chOff x="0" y="0"/>
            <a:chExt cx="978955" cy="753042"/>
          </a:xfrm>
        </p:grpSpPr>
        <p:sp>
          <p:nvSpPr>
            <p:cNvPr name="Freeform 19" id="19"/>
            <p:cNvSpPr/>
            <p:nvPr/>
          </p:nvSpPr>
          <p:spPr>
            <a:xfrm flipH="false" flipV="false" rot="0">
              <a:off x="0" y="0"/>
              <a:ext cx="978955" cy="753042"/>
            </a:xfrm>
            <a:custGeom>
              <a:avLst/>
              <a:gdLst/>
              <a:ahLst/>
              <a:cxnLst/>
              <a:rect r="r" b="b" t="t" l="l"/>
              <a:pathLst>
                <a:path h="753042" w="978955">
                  <a:moveTo>
                    <a:pt x="117350" y="0"/>
                  </a:moveTo>
                  <a:lnTo>
                    <a:pt x="861605" y="0"/>
                  </a:lnTo>
                  <a:cubicBezTo>
                    <a:pt x="926416" y="0"/>
                    <a:pt x="978955" y="52539"/>
                    <a:pt x="978955" y="117350"/>
                  </a:cubicBezTo>
                  <a:lnTo>
                    <a:pt x="978955" y="635692"/>
                  </a:lnTo>
                  <a:cubicBezTo>
                    <a:pt x="978955" y="666815"/>
                    <a:pt x="966592" y="696664"/>
                    <a:pt x="944584" y="718671"/>
                  </a:cubicBezTo>
                  <a:cubicBezTo>
                    <a:pt x="922577" y="740678"/>
                    <a:pt x="892729" y="753042"/>
                    <a:pt x="861605" y="753042"/>
                  </a:cubicBezTo>
                  <a:lnTo>
                    <a:pt x="117350" y="753042"/>
                  </a:lnTo>
                  <a:cubicBezTo>
                    <a:pt x="52539" y="753042"/>
                    <a:pt x="0" y="700503"/>
                    <a:pt x="0" y="635692"/>
                  </a:cubicBezTo>
                  <a:lnTo>
                    <a:pt x="0" y="117350"/>
                  </a:lnTo>
                  <a:cubicBezTo>
                    <a:pt x="0" y="86227"/>
                    <a:pt x="12364" y="56378"/>
                    <a:pt x="34371" y="34371"/>
                  </a:cubicBezTo>
                  <a:cubicBezTo>
                    <a:pt x="56378" y="12364"/>
                    <a:pt x="86227" y="0"/>
                    <a:pt x="117350" y="0"/>
                  </a:cubicBezTo>
                  <a:close/>
                </a:path>
              </a:pathLst>
            </a:custGeom>
            <a:blipFill>
              <a:blip r:embed="rId6"/>
              <a:stretch>
                <a:fillRect l="-65013" t="0" r="-48040" b="-7935"/>
              </a:stretch>
            </a:blipFill>
            <a:ln w="19050" cap="rnd">
              <a:solidFill>
                <a:srgbClr val="424242"/>
              </a:solidFill>
              <a:prstDash val="solid"/>
              <a:round/>
            </a:ln>
          </p:spPr>
        </p:sp>
      </p:grpSp>
      <p:grpSp>
        <p:nvGrpSpPr>
          <p:cNvPr name="Group 20" id="20"/>
          <p:cNvGrpSpPr/>
          <p:nvPr/>
        </p:nvGrpSpPr>
        <p:grpSpPr>
          <a:xfrm rot="0">
            <a:off x="8844161" y="717083"/>
            <a:ext cx="3562533" cy="2740408"/>
            <a:chOff x="0" y="0"/>
            <a:chExt cx="978955" cy="753042"/>
          </a:xfrm>
        </p:grpSpPr>
        <p:sp>
          <p:nvSpPr>
            <p:cNvPr name="Freeform 21" id="21"/>
            <p:cNvSpPr/>
            <p:nvPr/>
          </p:nvSpPr>
          <p:spPr>
            <a:xfrm flipH="false" flipV="false" rot="0">
              <a:off x="0" y="0"/>
              <a:ext cx="978955" cy="753042"/>
            </a:xfrm>
            <a:custGeom>
              <a:avLst/>
              <a:gdLst/>
              <a:ahLst/>
              <a:cxnLst/>
              <a:rect r="r" b="b" t="t" l="l"/>
              <a:pathLst>
                <a:path h="753042" w="978955">
                  <a:moveTo>
                    <a:pt x="117350" y="0"/>
                  </a:moveTo>
                  <a:lnTo>
                    <a:pt x="861605" y="0"/>
                  </a:lnTo>
                  <a:cubicBezTo>
                    <a:pt x="926416" y="0"/>
                    <a:pt x="978955" y="52539"/>
                    <a:pt x="978955" y="117350"/>
                  </a:cubicBezTo>
                  <a:lnTo>
                    <a:pt x="978955" y="635692"/>
                  </a:lnTo>
                  <a:cubicBezTo>
                    <a:pt x="978955" y="666815"/>
                    <a:pt x="966592" y="696664"/>
                    <a:pt x="944584" y="718671"/>
                  </a:cubicBezTo>
                  <a:cubicBezTo>
                    <a:pt x="922577" y="740678"/>
                    <a:pt x="892729" y="753042"/>
                    <a:pt x="861605" y="753042"/>
                  </a:cubicBezTo>
                  <a:lnTo>
                    <a:pt x="117350" y="753042"/>
                  </a:lnTo>
                  <a:cubicBezTo>
                    <a:pt x="52539" y="753042"/>
                    <a:pt x="0" y="700503"/>
                    <a:pt x="0" y="635692"/>
                  </a:cubicBezTo>
                  <a:lnTo>
                    <a:pt x="0" y="117350"/>
                  </a:lnTo>
                  <a:cubicBezTo>
                    <a:pt x="0" y="86227"/>
                    <a:pt x="12364" y="56378"/>
                    <a:pt x="34371" y="34371"/>
                  </a:cubicBezTo>
                  <a:cubicBezTo>
                    <a:pt x="56378" y="12364"/>
                    <a:pt x="86227" y="0"/>
                    <a:pt x="117350" y="0"/>
                  </a:cubicBezTo>
                  <a:close/>
                </a:path>
              </a:pathLst>
            </a:custGeom>
            <a:blipFill>
              <a:blip r:embed="rId7"/>
              <a:stretch>
                <a:fillRect l="0" t="-674" r="0" b="-46171"/>
              </a:stretch>
            </a:blipFill>
            <a:ln w="19050" cap="rnd">
              <a:solidFill>
                <a:srgbClr val="424242"/>
              </a:solidFill>
              <a:prstDash val="solid"/>
              <a:round/>
            </a:ln>
          </p:spPr>
        </p:sp>
      </p:grpSp>
      <p:grpSp>
        <p:nvGrpSpPr>
          <p:cNvPr name="Group 22" id="22"/>
          <p:cNvGrpSpPr/>
          <p:nvPr/>
        </p:nvGrpSpPr>
        <p:grpSpPr>
          <a:xfrm rot="0">
            <a:off x="8882141" y="5574263"/>
            <a:ext cx="3562533" cy="2740408"/>
            <a:chOff x="0" y="0"/>
            <a:chExt cx="978955" cy="753042"/>
          </a:xfrm>
        </p:grpSpPr>
        <p:sp>
          <p:nvSpPr>
            <p:cNvPr name="Freeform 23" id="23"/>
            <p:cNvSpPr/>
            <p:nvPr/>
          </p:nvSpPr>
          <p:spPr>
            <a:xfrm flipH="false" flipV="false" rot="0">
              <a:off x="0" y="0"/>
              <a:ext cx="978955" cy="753042"/>
            </a:xfrm>
            <a:custGeom>
              <a:avLst/>
              <a:gdLst/>
              <a:ahLst/>
              <a:cxnLst/>
              <a:rect r="r" b="b" t="t" l="l"/>
              <a:pathLst>
                <a:path h="753042" w="978955">
                  <a:moveTo>
                    <a:pt x="117350" y="0"/>
                  </a:moveTo>
                  <a:lnTo>
                    <a:pt x="861605" y="0"/>
                  </a:lnTo>
                  <a:cubicBezTo>
                    <a:pt x="926416" y="0"/>
                    <a:pt x="978955" y="52539"/>
                    <a:pt x="978955" y="117350"/>
                  </a:cubicBezTo>
                  <a:lnTo>
                    <a:pt x="978955" y="635692"/>
                  </a:lnTo>
                  <a:cubicBezTo>
                    <a:pt x="978955" y="666815"/>
                    <a:pt x="966592" y="696664"/>
                    <a:pt x="944584" y="718671"/>
                  </a:cubicBezTo>
                  <a:cubicBezTo>
                    <a:pt x="922577" y="740678"/>
                    <a:pt x="892729" y="753042"/>
                    <a:pt x="861605" y="753042"/>
                  </a:cubicBezTo>
                  <a:lnTo>
                    <a:pt x="117350" y="753042"/>
                  </a:lnTo>
                  <a:cubicBezTo>
                    <a:pt x="52539" y="753042"/>
                    <a:pt x="0" y="700503"/>
                    <a:pt x="0" y="635692"/>
                  </a:cubicBezTo>
                  <a:lnTo>
                    <a:pt x="0" y="117350"/>
                  </a:lnTo>
                  <a:cubicBezTo>
                    <a:pt x="0" y="86227"/>
                    <a:pt x="12364" y="56378"/>
                    <a:pt x="34371" y="34371"/>
                  </a:cubicBezTo>
                  <a:cubicBezTo>
                    <a:pt x="56378" y="12364"/>
                    <a:pt x="86227" y="0"/>
                    <a:pt x="117350" y="0"/>
                  </a:cubicBezTo>
                  <a:close/>
                </a:path>
              </a:pathLst>
            </a:custGeom>
            <a:blipFill>
              <a:blip r:embed="rId8"/>
              <a:stretch>
                <a:fillRect l="0" t="-29087" r="0" b="-29087"/>
              </a:stretch>
            </a:blipFill>
            <a:ln w="19050" cap="rnd">
              <a:solidFill>
                <a:srgbClr val="424242"/>
              </a:solidFill>
              <a:prstDash val="solid"/>
              <a:round/>
            </a:ln>
          </p:spPr>
        </p:sp>
      </p:grpSp>
      <p:grpSp>
        <p:nvGrpSpPr>
          <p:cNvPr name="Group 24" id="24"/>
          <p:cNvGrpSpPr/>
          <p:nvPr/>
        </p:nvGrpSpPr>
        <p:grpSpPr>
          <a:xfrm rot="0">
            <a:off x="13163126" y="5355323"/>
            <a:ext cx="4096174" cy="4331915"/>
            <a:chOff x="0" y="0"/>
            <a:chExt cx="5461566" cy="5775886"/>
          </a:xfrm>
        </p:grpSpPr>
        <p:grpSp>
          <p:nvGrpSpPr>
            <p:cNvPr name="Group 25" id="25"/>
            <p:cNvGrpSpPr/>
            <p:nvPr/>
          </p:nvGrpSpPr>
          <p:grpSpPr>
            <a:xfrm rot="0">
              <a:off x="0" y="0"/>
              <a:ext cx="5461566" cy="5775886"/>
              <a:chOff x="0" y="0"/>
              <a:chExt cx="1078828" cy="1140916"/>
            </a:xfrm>
          </p:grpSpPr>
          <p:sp>
            <p:nvSpPr>
              <p:cNvPr name="Freeform 26" id="26"/>
              <p:cNvSpPr/>
              <p:nvPr/>
            </p:nvSpPr>
            <p:spPr>
              <a:xfrm flipH="false" flipV="false" rot="0">
                <a:off x="0" y="0"/>
                <a:ext cx="1078828" cy="1140916"/>
              </a:xfrm>
              <a:custGeom>
                <a:avLst/>
                <a:gdLst/>
                <a:ahLst/>
                <a:cxnLst/>
                <a:rect r="r" b="b" t="t" l="l"/>
                <a:pathLst>
                  <a:path h="1140916" w="1078828">
                    <a:moveTo>
                      <a:pt x="134193" y="0"/>
                    </a:moveTo>
                    <a:lnTo>
                      <a:pt x="944635" y="0"/>
                    </a:lnTo>
                    <a:cubicBezTo>
                      <a:pt x="980225" y="0"/>
                      <a:pt x="1014358" y="14138"/>
                      <a:pt x="1039524" y="39304"/>
                    </a:cubicBezTo>
                    <a:cubicBezTo>
                      <a:pt x="1064690" y="64470"/>
                      <a:pt x="1078828" y="98603"/>
                      <a:pt x="1078828" y="134193"/>
                    </a:cubicBezTo>
                    <a:lnTo>
                      <a:pt x="1078828" y="1006723"/>
                    </a:lnTo>
                    <a:cubicBezTo>
                      <a:pt x="1078828" y="1080836"/>
                      <a:pt x="1018748" y="1140916"/>
                      <a:pt x="944635" y="1140916"/>
                    </a:cubicBezTo>
                    <a:lnTo>
                      <a:pt x="134193" y="1140916"/>
                    </a:lnTo>
                    <a:cubicBezTo>
                      <a:pt x="98603" y="1140916"/>
                      <a:pt x="64470" y="1126778"/>
                      <a:pt x="39304" y="1101612"/>
                    </a:cubicBezTo>
                    <a:cubicBezTo>
                      <a:pt x="14138" y="1076446"/>
                      <a:pt x="0" y="1042313"/>
                      <a:pt x="0" y="1006723"/>
                    </a:cubicBezTo>
                    <a:lnTo>
                      <a:pt x="0" y="134193"/>
                    </a:lnTo>
                    <a:cubicBezTo>
                      <a:pt x="0" y="98603"/>
                      <a:pt x="14138" y="64470"/>
                      <a:pt x="39304" y="39304"/>
                    </a:cubicBezTo>
                    <a:cubicBezTo>
                      <a:pt x="64470" y="14138"/>
                      <a:pt x="98603" y="0"/>
                      <a:pt x="134193" y="0"/>
                    </a:cubicBezTo>
                    <a:close/>
                  </a:path>
                </a:pathLst>
              </a:custGeom>
              <a:solidFill>
                <a:srgbClr val="D0D7DD"/>
              </a:solidFill>
              <a:ln w="19050" cap="rnd">
                <a:solidFill>
                  <a:srgbClr val="424242"/>
                </a:solidFill>
                <a:prstDash val="solid"/>
                <a:round/>
              </a:ln>
            </p:spPr>
          </p:sp>
          <p:sp>
            <p:nvSpPr>
              <p:cNvPr name="TextBox 27" id="27"/>
              <p:cNvSpPr txBox="true"/>
              <p:nvPr/>
            </p:nvSpPr>
            <p:spPr>
              <a:xfrm>
                <a:off x="0" y="-28575"/>
                <a:ext cx="1078828" cy="1169491"/>
              </a:xfrm>
              <a:prstGeom prst="rect">
                <a:avLst/>
              </a:prstGeom>
            </p:spPr>
            <p:txBody>
              <a:bodyPr anchor="ctr" rtlCol="false" tIns="50800" lIns="50800" bIns="50800" rIns="50800"/>
              <a:lstStyle/>
              <a:p>
                <a:pPr algn="ctr">
                  <a:lnSpc>
                    <a:spcPts val="2015"/>
                  </a:lnSpc>
                </a:pPr>
              </a:p>
            </p:txBody>
          </p:sp>
        </p:grpSp>
        <p:grpSp>
          <p:nvGrpSpPr>
            <p:cNvPr name="Group 28" id="28"/>
            <p:cNvGrpSpPr/>
            <p:nvPr/>
          </p:nvGrpSpPr>
          <p:grpSpPr>
            <a:xfrm rot="0">
              <a:off x="355761" y="310855"/>
              <a:ext cx="4750044" cy="3653877"/>
              <a:chOff x="0" y="0"/>
              <a:chExt cx="978955" cy="753042"/>
            </a:xfrm>
          </p:grpSpPr>
          <p:sp>
            <p:nvSpPr>
              <p:cNvPr name="Freeform 29" id="29"/>
              <p:cNvSpPr/>
              <p:nvPr/>
            </p:nvSpPr>
            <p:spPr>
              <a:xfrm flipH="false" flipV="false" rot="0">
                <a:off x="0" y="0"/>
                <a:ext cx="978955" cy="753042"/>
              </a:xfrm>
              <a:custGeom>
                <a:avLst/>
                <a:gdLst/>
                <a:ahLst/>
                <a:cxnLst/>
                <a:rect r="r" b="b" t="t" l="l"/>
                <a:pathLst>
                  <a:path h="753042" w="978955">
                    <a:moveTo>
                      <a:pt x="117350" y="0"/>
                    </a:moveTo>
                    <a:lnTo>
                      <a:pt x="861605" y="0"/>
                    </a:lnTo>
                    <a:cubicBezTo>
                      <a:pt x="926416" y="0"/>
                      <a:pt x="978955" y="52539"/>
                      <a:pt x="978955" y="117350"/>
                    </a:cubicBezTo>
                    <a:lnTo>
                      <a:pt x="978955" y="635692"/>
                    </a:lnTo>
                    <a:cubicBezTo>
                      <a:pt x="978955" y="666815"/>
                      <a:pt x="966592" y="696664"/>
                      <a:pt x="944584" y="718671"/>
                    </a:cubicBezTo>
                    <a:cubicBezTo>
                      <a:pt x="922577" y="740678"/>
                      <a:pt x="892729" y="753042"/>
                      <a:pt x="861605" y="753042"/>
                    </a:cubicBezTo>
                    <a:lnTo>
                      <a:pt x="117350" y="753042"/>
                    </a:lnTo>
                    <a:cubicBezTo>
                      <a:pt x="52539" y="753042"/>
                      <a:pt x="0" y="700503"/>
                      <a:pt x="0" y="635692"/>
                    </a:cubicBezTo>
                    <a:lnTo>
                      <a:pt x="0" y="117350"/>
                    </a:lnTo>
                    <a:cubicBezTo>
                      <a:pt x="0" y="86227"/>
                      <a:pt x="12364" y="56378"/>
                      <a:pt x="34371" y="34371"/>
                    </a:cubicBezTo>
                    <a:cubicBezTo>
                      <a:pt x="56378" y="12364"/>
                      <a:pt x="86227" y="0"/>
                      <a:pt x="117350" y="0"/>
                    </a:cubicBezTo>
                    <a:close/>
                  </a:path>
                </a:pathLst>
              </a:custGeom>
              <a:blipFill>
                <a:blip r:embed="rId6"/>
                <a:stretch>
                  <a:fillRect l="-65013" t="0" r="-48040" b="-7935"/>
                </a:stretch>
              </a:blipFill>
              <a:ln w="19050" cap="rnd">
                <a:solidFill>
                  <a:srgbClr val="424242"/>
                </a:solidFill>
                <a:prstDash val="solid"/>
                <a:round/>
              </a:ln>
            </p:spPr>
          </p:sp>
        </p:grpSp>
        <p:grpSp>
          <p:nvGrpSpPr>
            <p:cNvPr name="Group 30" id="30"/>
            <p:cNvGrpSpPr/>
            <p:nvPr/>
          </p:nvGrpSpPr>
          <p:grpSpPr>
            <a:xfrm rot="0">
              <a:off x="355761" y="310855"/>
              <a:ext cx="4750044" cy="3653877"/>
              <a:chOff x="0" y="0"/>
              <a:chExt cx="978955" cy="753042"/>
            </a:xfrm>
          </p:grpSpPr>
          <p:sp>
            <p:nvSpPr>
              <p:cNvPr name="Freeform 31" id="31"/>
              <p:cNvSpPr/>
              <p:nvPr/>
            </p:nvSpPr>
            <p:spPr>
              <a:xfrm flipH="false" flipV="false" rot="0">
                <a:off x="0" y="0"/>
                <a:ext cx="978955" cy="753042"/>
              </a:xfrm>
              <a:custGeom>
                <a:avLst/>
                <a:gdLst/>
                <a:ahLst/>
                <a:cxnLst/>
                <a:rect r="r" b="b" t="t" l="l"/>
                <a:pathLst>
                  <a:path h="753042" w="978955">
                    <a:moveTo>
                      <a:pt x="117350" y="0"/>
                    </a:moveTo>
                    <a:lnTo>
                      <a:pt x="861605" y="0"/>
                    </a:lnTo>
                    <a:cubicBezTo>
                      <a:pt x="926416" y="0"/>
                      <a:pt x="978955" y="52539"/>
                      <a:pt x="978955" y="117350"/>
                    </a:cubicBezTo>
                    <a:lnTo>
                      <a:pt x="978955" y="635692"/>
                    </a:lnTo>
                    <a:cubicBezTo>
                      <a:pt x="978955" y="666815"/>
                      <a:pt x="966592" y="696664"/>
                      <a:pt x="944584" y="718671"/>
                    </a:cubicBezTo>
                    <a:cubicBezTo>
                      <a:pt x="922577" y="740678"/>
                      <a:pt x="892729" y="753042"/>
                      <a:pt x="861605" y="753042"/>
                    </a:cubicBezTo>
                    <a:lnTo>
                      <a:pt x="117350" y="753042"/>
                    </a:lnTo>
                    <a:cubicBezTo>
                      <a:pt x="52539" y="753042"/>
                      <a:pt x="0" y="700503"/>
                      <a:pt x="0" y="635692"/>
                    </a:cubicBezTo>
                    <a:lnTo>
                      <a:pt x="0" y="117350"/>
                    </a:lnTo>
                    <a:cubicBezTo>
                      <a:pt x="0" y="86227"/>
                      <a:pt x="12364" y="56378"/>
                      <a:pt x="34371" y="34371"/>
                    </a:cubicBezTo>
                    <a:cubicBezTo>
                      <a:pt x="56378" y="12364"/>
                      <a:pt x="86227" y="0"/>
                      <a:pt x="117350" y="0"/>
                    </a:cubicBezTo>
                    <a:close/>
                  </a:path>
                </a:pathLst>
              </a:custGeom>
              <a:blipFill>
                <a:blip r:embed="rId9"/>
                <a:stretch>
                  <a:fillRect l="-9804" t="0" r="-9804" b="0"/>
                </a:stretch>
              </a:blipFill>
              <a:ln w="19050" cap="rnd">
                <a:solidFill>
                  <a:srgbClr val="424242"/>
                </a:solidFill>
                <a:prstDash val="solid"/>
                <a:round/>
              </a:ln>
            </p:spPr>
          </p:sp>
        </p:grpSp>
      </p:grpSp>
      <p:sp>
        <p:nvSpPr>
          <p:cNvPr name="Freeform 32" id="32"/>
          <p:cNvSpPr/>
          <p:nvPr/>
        </p:nvSpPr>
        <p:spPr>
          <a:xfrm flipH="false" flipV="false" rot="0">
            <a:off x="-771622" y="5341361"/>
            <a:ext cx="4716981" cy="6251420"/>
          </a:xfrm>
          <a:custGeom>
            <a:avLst/>
            <a:gdLst/>
            <a:ahLst/>
            <a:cxnLst/>
            <a:rect r="r" b="b" t="t" l="l"/>
            <a:pathLst>
              <a:path h="6251420" w="4716981">
                <a:moveTo>
                  <a:pt x="0" y="0"/>
                </a:moveTo>
                <a:lnTo>
                  <a:pt x="4716981" y="0"/>
                </a:lnTo>
                <a:lnTo>
                  <a:pt x="4716981" y="6251421"/>
                </a:lnTo>
                <a:lnTo>
                  <a:pt x="0" y="6251421"/>
                </a:lnTo>
                <a:lnTo>
                  <a:pt x="0" y="0"/>
                </a:lnTo>
                <a:close/>
              </a:path>
            </a:pathLst>
          </a:custGeom>
          <a:blipFill>
            <a:blip r:embed="rId2">
              <a:alphaModFix amt="2000"/>
              <a:extLst>
                <a:ext uri="{96DAC541-7B7A-43D3-8B79-37D633B846F1}">
                  <asvg:svgBlip xmlns:asvg="http://schemas.microsoft.com/office/drawing/2016/SVG/main" r:embed="rId3"/>
                </a:ext>
              </a:extLst>
            </a:blip>
            <a:stretch>
              <a:fillRect l="0" t="0" r="0" b="0"/>
            </a:stretch>
          </a:blipFill>
        </p:spPr>
      </p:sp>
      <p:sp>
        <p:nvSpPr>
          <p:cNvPr name="Freeform 33" id="33"/>
          <p:cNvSpPr/>
          <p:nvPr/>
        </p:nvSpPr>
        <p:spPr>
          <a:xfrm flipH="false" flipV="false" rot="0">
            <a:off x="-619222" y="5493761"/>
            <a:ext cx="4716981" cy="6251420"/>
          </a:xfrm>
          <a:custGeom>
            <a:avLst/>
            <a:gdLst/>
            <a:ahLst/>
            <a:cxnLst/>
            <a:rect r="r" b="b" t="t" l="l"/>
            <a:pathLst>
              <a:path h="6251420" w="4716981">
                <a:moveTo>
                  <a:pt x="0" y="0"/>
                </a:moveTo>
                <a:lnTo>
                  <a:pt x="4716981" y="0"/>
                </a:lnTo>
                <a:lnTo>
                  <a:pt x="4716981" y="6251421"/>
                </a:lnTo>
                <a:lnTo>
                  <a:pt x="0" y="6251421"/>
                </a:lnTo>
                <a:lnTo>
                  <a:pt x="0" y="0"/>
                </a:lnTo>
                <a:close/>
              </a:path>
            </a:pathLst>
          </a:custGeom>
          <a:blipFill>
            <a:blip r:embed="rId2">
              <a:alphaModFix amt="2000"/>
              <a:extLst>
                <a:ext uri="{96DAC541-7B7A-43D3-8B79-37D633B846F1}">
                  <asvg:svgBlip xmlns:asvg="http://schemas.microsoft.com/office/drawing/2016/SVG/main" r:embed="rId3"/>
                </a:ext>
              </a:extLst>
            </a:blip>
            <a:stretch>
              <a:fillRect l="0" t="0" r="0" b="0"/>
            </a:stretch>
          </a:blipFill>
        </p:spPr>
      </p:sp>
      <p:grpSp>
        <p:nvGrpSpPr>
          <p:cNvPr name="Group 34" id="34"/>
          <p:cNvGrpSpPr/>
          <p:nvPr/>
        </p:nvGrpSpPr>
        <p:grpSpPr>
          <a:xfrm rot="0">
            <a:off x="13404978" y="744074"/>
            <a:ext cx="3562533" cy="2740408"/>
            <a:chOff x="0" y="0"/>
            <a:chExt cx="978955" cy="753042"/>
          </a:xfrm>
        </p:grpSpPr>
        <p:sp>
          <p:nvSpPr>
            <p:cNvPr name="Freeform 35" id="35"/>
            <p:cNvSpPr/>
            <p:nvPr/>
          </p:nvSpPr>
          <p:spPr>
            <a:xfrm flipH="false" flipV="false" rot="0">
              <a:off x="0" y="0"/>
              <a:ext cx="978955" cy="753042"/>
            </a:xfrm>
            <a:custGeom>
              <a:avLst/>
              <a:gdLst/>
              <a:ahLst/>
              <a:cxnLst/>
              <a:rect r="r" b="b" t="t" l="l"/>
              <a:pathLst>
                <a:path h="753042" w="978955">
                  <a:moveTo>
                    <a:pt x="117350" y="0"/>
                  </a:moveTo>
                  <a:lnTo>
                    <a:pt x="861605" y="0"/>
                  </a:lnTo>
                  <a:cubicBezTo>
                    <a:pt x="926416" y="0"/>
                    <a:pt x="978955" y="52539"/>
                    <a:pt x="978955" y="117350"/>
                  </a:cubicBezTo>
                  <a:lnTo>
                    <a:pt x="978955" y="635692"/>
                  </a:lnTo>
                  <a:cubicBezTo>
                    <a:pt x="978955" y="666815"/>
                    <a:pt x="966592" y="696664"/>
                    <a:pt x="944584" y="718671"/>
                  </a:cubicBezTo>
                  <a:cubicBezTo>
                    <a:pt x="922577" y="740678"/>
                    <a:pt x="892729" y="753042"/>
                    <a:pt x="861605" y="753042"/>
                  </a:cubicBezTo>
                  <a:lnTo>
                    <a:pt x="117350" y="753042"/>
                  </a:lnTo>
                  <a:cubicBezTo>
                    <a:pt x="52539" y="753042"/>
                    <a:pt x="0" y="700503"/>
                    <a:pt x="0" y="635692"/>
                  </a:cubicBezTo>
                  <a:lnTo>
                    <a:pt x="0" y="117350"/>
                  </a:lnTo>
                  <a:cubicBezTo>
                    <a:pt x="0" y="86227"/>
                    <a:pt x="12364" y="56378"/>
                    <a:pt x="34371" y="34371"/>
                  </a:cubicBezTo>
                  <a:cubicBezTo>
                    <a:pt x="56378" y="12364"/>
                    <a:pt x="86227" y="0"/>
                    <a:pt x="117350" y="0"/>
                  </a:cubicBezTo>
                  <a:close/>
                </a:path>
              </a:pathLst>
            </a:custGeom>
            <a:blipFill>
              <a:blip r:embed="rId10"/>
              <a:stretch>
                <a:fillRect l="-14839" t="-26923" r="0" b="-72132"/>
              </a:stretch>
            </a:blipFill>
            <a:ln w="19050" cap="rnd">
              <a:solidFill>
                <a:srgbClr val="424242"/>
              </a:solidFill>
              <a:prstDash val="solid"/>
              <a:round/>
            </a:ln>
          </p:spPr>
        </p:sp>
      </p:grpSp>
      <p:grpSp>
        <p:nvGrpSpPr>
          <p:cNvPr name="Group 36" id="36"/>
          <p:cNvGrpSpPr/>
          <p:nvPr/>
        </p:nvGrpSpPr>
        <p:grpSpPr>
          <a:xfrm rot="0">
            <a:off x="3728373" y="5355323"/>
            <a:ext cx="4096174" cy="4331915"/>
            <a:chOff x="0" y="0"/>
            <a:chExt cx="5461566" cy="5775886"/>
          </a:xfrm>
        </p:grpSpPr>
        <p:grpSp>
          <p:nvGrpSpPr>
            <p:cNvPr name="Group 37" id="37"/>
            <p:cNvGrpSpPr/>
            <p:nvPr/>
          </p:nvGrpSpPr>
          <p:grpSpPr>
            <a:xfrm rot="0">
              <a:off x="0" y="0"/>
              <a:ext cx="5461566" cy="5775886"/>
              <a:chOff x="0" y="0"/>
              <a:chExt cx="1078828" cy="1140916"/>
            </a:xfrm>
          </p:grpSpPr>
          <p:sp>
            <p:nvSpPr>
              <p:cNvPr name="Freeform 38" id="38"/>
              <p:cNvSpPr/>
              <p:nvPr/>
            </p:nvSpPr>
            <p:spPr>
              <a:xfrm flipH="false" flipV="false" rot="0">
                <a:off x="0" y="0"/>
                <a:ext cx="1078828" cy="1140916"/>
              </a:xfrm>
              <a:custGeom>
                <a:avLst/>
                <a:gdLst/>
                <a:ahLst/>
                <a:cxnLst/>
                <a:rect r="r" b="b" t="t" l="l"/>
                <a:pathLst>
                  <a:path h="1140916" w="1078828">
                    <a:moveTo>
                      <a:pt x="134193" y="0"/>
                    </a:moveTo>
                    <a:lnTo>
                      <a:pt x="944635" y="0"/>
                    </a:lnTo>
                    <a:cubicBezTo>
                      <a:pt x="980225" y="0"/>
                      <a:pt x="1014358" y="14138"/>
                      <a:pt x="1039524" y="39304"/>
                    </a:cubicBezTo>
                    <a:cubicBezTo>
                      <a:pt x="1064690" y="64470"/>
                      <a:pt x="1078828" y="98603"/>
                      <a:pt x="1078828" y="134193"/>
                    </a:cubicBezTo>
                    <a:lnTo>
                      <a:pt x="1078828" y="1006723"/>
                    </a:lnTo>
                    <a:cubicBezTo>
                      <a:pt x="1078828" y="1080836"/>
                      <a:pt x="1018748" y="1140916"/>
                      <a:pt x="944635" y="1140916"/>
                    </a:cubicBezTo>
                    <a:lnTo>
                      <a:pt x="134193" y="1140916"/>
                    </a:lnTo>
                    <a:cubicBezTo>
                      <a:pt x="98603" y="1140916"/>
                      <a:pt x="64470" y="1126778"/>
                      <a:pt x="39304" y="1101612"/>
                    </a:cubicBezTo>
                    <a:cubicBezTo>
                      <a:pt x="14138" y="1076446"/>
                      <a:pt x="0" y="1042313"/>
                      <a:pt x="0" y="1006723"/>
                    </a:cubicBezTo>
                    <a:lnTo>
                      <a:pt x="0" y="134193"/>
                    </a:lnTo>
                    <a:cubicBezTo>
                      <a:pt x="0" y="98603"/>
                      <a:pt x="14138" y="64470"/>
                      <a:pt x="39304" y="39304"/>
                    </a:cubicBezTo>
                    <a:cubicBezTo>
                      <a:pt x="64470" y="14138"/>
                      <a:pt x="98603" y="0"/>
                      <a:pt x="134193" y="0"/>
                    </a:cubicBezTo>
                    <a:close/>
                  </a:path>
                </a:pathLst>
              </a:custGeom>
              <a:solidFill>
                <a:srgbClr val="D0D7DD"/>
              </a:solidFill>
              <a:ln w="19050" cap="rnd">
                <a:solidFill>
                  <a:srgbClr val="424242"/>
                </a:solidFill>
                <a:prstDash val="solid"/>
                <a:round/>
              </a:ln>
            </p:spPr>
          </p:sp>
          <p:sp>
            <p:nvSpPr>
              <p:cNvPr name="TextBox 39" id="39"/>
              <p:cNvSpPr txBox="true"/>
              <p:nvPr/>
            </p:nvSpPr>
            <p:spPr>
              <a:xfrm>
                <a:off x="0" y="-28575"/>
                <a:ext cx="1078828" cy="1169491"/>
              </a:xfrm>
              <a:prstGeom prst="rect">
                <a:avLst/>
              </a:prstGeom>
            </p:spPr>
            <p:txBody>
              <a:bodyPr anchor="ctr" rtlCol="false" tIns="50800" lIns="50800" bIns="50800" rIns="50800"/>
              <a:lstStyle/>
              <a:p>
                <a:pPr algn="ctr">
                  <a:lnSpc>
                    <a:spcPts val="2015"/>
                  </a:lnSpc>
                </a:pPr>
              </a:p>
            </p:txBody>
          </p:sp>
        </p:grpSp>
        <p:grpSp>
          <p:nvGrpSpPr>
            <p:cNvPr name="Group 40" id="40"/>
            <p:cNvGrpSpPr/>
            <p:nvPr/>
          </p:nvGrpSpPr>
          <p:grpSpPr>
            <a:xfrm rot="0">
              <a:off x="355761" y="310855"/>
              <a:ext cx="4750044" cy="3653877"/>
              <a:chOff x="0" y="0"/>
              <a:chExt cx="978955" cy="753042"/>
            </a:xfrm>
          </p:grpSpPr>
          <p:sp>
            <p:nvSpPr>
              <p:cNvPr name="Freeform 41" id="41"/>
              <p:cNvSpPr/>
              <p:nvPr/>
            </p:nvSpPr>
            <p:spPr>
              <a:xfrm flipH="false" flipV="false" rot="0">
                <a:off x="0" y="0"/>
                <a:ext cx="978955" cy="753042"/>
              </a:xfrm>
              <a:custGeom>
                <a:avLst/>
                <a:gdLst/>
                <a:ahLst/>
                <a:cxnLst/>
                <a:rect r="r" b="b" t="t" l="l"/>
                <a:pathLst>
                  <a:path h="753042" w="978955">
                    <a:moveTo>
                      <a:pt x="117350" y="0"/>
                    </a:moveTo>
                    <a:lnTo>
                      <a:pt x="861605" y="0"/>
                    </a:lnTo>
                    <a:cubicBezTo>
                      <a:pt x="926416" y="0"/>
                      <a:pt x="978955" y="52539"/>
                      <a:pt x="978955" y="117350"/>
                    </a:cubicBezTo>
                    <a:lnTo>
                      <a:pt x="978955" y="635692"/>
                    </a:lnTo>
                    <a:cubicBezTo>
                      <a:pt x="978955" y="666815"/>
                      <a:pt x="966592" y="696664"/>
                      <a:pt x="944584" y="718671"/>
                    </a:cubicBezTo>
                    <a:cubicBezTo>
                      <a:pt x="922577" y="740678"/>
                      <a:pt x="892729" y="753042"/>
                      <a:pt x="861605" y="753042"/>
                    </a:cubicBezTo>
                    <a:lnTo>
                      <a:pt x="117350" y="753042"/>
                    </a:lnTo>
                    <a:cubicBezTo>
                      <a:pt x="52539" y="753042"/>
                      <a:pt x="0" y="700503"/>
                      <a:pt x="0" y="635692"/>
                    </a:cubicBezTo>
                    <a:lnTo>
                      <a:pt x="0" y="117350"/>
                    </a:lnTo>
                    <a:cubicBezTo>
                      <a:pt x="0" y="86227"/>
                      <a:pt x="12364" y="56378"/>
                      <a:pt x="34371" y="34371"/>
                    </a:cubicBezTo>
                    <a:cubicBezTo>
                      <a:pt x="56378" y="12364"/>
                      <a:pt x="86227" y="0"/>
                      <a:pt x="117350" y="0"/>
                    </a:cubicBezTo>
                    <a:close/>
                  </a:path>
                </a:pathLst>
              </a:custGeom>
              <a:blipFill>
                <a:blip r:embed="rId6"/>
                <a:stretch>
                  <a:fillRect l="-65013" t="0" r="-48040" b="-7935"/>
                </a:stretch>
              </a:blipFill>
              <a:ln w="19050" cap="rnd">
                <a:solidFill>
                  <a:srgbClr val="424242"/>
                </a:solidFill>
                <a:prstDash val="solid"/>
                <a:round/>
              </a:ln>
            </p:spPr>
          </p:sp>
        </p:grpSp>
        <p:grpSp>
          <p:nvGrpSpPr>
            <p:cNvPr name="Group 42" id="42"/>
            <p:cNvGrpSpPr/>
            <p:nvPr/>
          </p:nvGrpSpPr>
          <p:grpSpPr>
            <a:xfrm rot="0">
              <a:off x="355761" y="310855"/>
              <a:ext cx="4750044" cy="3653877"/>
              <a:chOff x="0" y="0"/>
              <a:chExt cx="978955" cy="753042"/>
            </a:xfrm>
          </p:grpSpPr>
          <p:sp>
            <p:nvSpPr>
              <p:cNvPr name="Freeform 43" id="43"/>
              <p:cNvSpPr/>
              <p:nvPr/>
            </p:nvSpPr>
            <p:spPr>
              <a:xfrm flipH="false" flipV="false" rot="0">
                <a:off x="0" y="0"/>
                <a:ext cx="978955" cy="753042"/>
              </a:xfrm>
              <a:custGeom>
                <a:avLst/>
                <a:gdLst/>
                <a:ahLst/>
                <a:cxnLst/>
                <a:rect r="r" b="b" t="t" l="l"/>
                <a:pathLst>
                  <a:path h="753042" w="978955">
                    <a:moveTo>
                      <a:pt x="117350" y="0"/>
                    </a:moveTo>
                    <a:lnTo>
                      <a:pt x="861605" y="0"/>
                    </a:lnTo>
                    <a:cubicBezTo>
                      <a:pt x="926416" y="0"/>
                      <a:pt x="978955" y="52539"/>
                      <a:pt x="978955" y="117350"/>
                    </a:cubicBezTo>
                    <a:lnTo>
                      <a:pt x="978955" y="635692"/>
                    </a:lnTo>
                    <a:cubicBezTo>
                      <a:pt x="978955" y="666815"/>
                      <a:pt x="966592" y="696664"/>
                      <a:pt x="944584" y="718671"/>
                    </a:cubicBezTo>
                    <a:cubicBezTo>
                      <a:pt x="922577" y="740678"/>
                      <a:pt x="892729" y="753042"/>
                      <a:pt x="861605" y="753042"/>
                    </a:cubicBezTo>
                    <a:lnTo>
                      <a:pt x="117350" y="753042"/>
                    </a:lnTo>
                    <a:cubicBezTo>
                      <a:pt x="52539" y="753042"/>
                      <a:pt x="0" y="700503"/>
                      <a:pt x="0" y="635692"/>
                    </a:cubicBezTo>
                    <a:lnTo>
                      <a:pt x="0" y="117350"/>
                    </a:lnTo>
                    <a:cubicBezTo>
                      <a:pt x="0" y="86227"/>
                      <a:pt x="12364" y="56378"/>
                      <a:pt x="34371" y="34371"/>
                    </a:cubicBezTo>
                    <a:cubicBezTo>
                      <a:pt x="56378" y="12364"/>
                      <a:pt x="86227" y="0"/>
                      <a:pt x="117350" y="0"/>
                    </a:cubicBezTo>
                    <a:close/>
                  </a:path>
                </a:pathLst>
              </a:custGeom>
              <a:blipFill>
                <a:blip r:embed="rId11"/>
                <a:stretch>
                  <a:fillRect l="0" t="-36666" r="0" b="-36666"/>
                </a:stretch>
              </a:blipFill>
              <a:ln w="19050" cap="rnd">
                <a:solidFill>
                  <a:srgbClr val="424242"/>
                </a:solidFill>
                <a:prstDash val="solid"/>
                <a:round/>
              </a:ln>
            </p:spPr>
          </p:sp>
        </p:grpSp>
      </p:grpSp>
      <p:sp>
        <p:nvSpPr>
          <p:cNvPr name="TextBox 44" id="44"/>
          <p:cNvSpPr txBox="true"/>
          <p:nvPr/>
        </p:nvSpPr>
        <p:spPr>
          <a:xfrm rot="0">
            <a:off x="770130" y="379682"/>
            <a:ext cx="6350458" cy="4460286"/>
          </a:xfrm>
          <a:prstGeom prst="rect">
            <a:avLst/>
          </a:prstGeom>
        </p:spPr>
        <p:txBody>
          <a:bodyPr anchor="t" rtlCol="false" tIns="0" lIns="0" bIns="0" rIns="0">
            <a:spAutoFit/>
          </a:bodyPr>
          <a:lstStyle/>
          <a:p>
            <a:pPr algn="l">
              <a:lnSpc>
                <a:spcPts val="11464"/>
              </a:lnSpc>
            </a:pPr>
            <a:r>
              <a:rPr lang="en-US" sz="12196" spc="-573" b="true">
                <a:solidFill>
                  <a:srgbClr val="424242"/>
                </a:solidFill>
                <a:latin typeface="Open Sauce Heavy"/>
                <a:ea typeface="Open Sauce Heavy"/>
                <a:cs typeface="Open Sauce Heavy"/>
                <a:sym typeface="Open Sauce Heavy"/>
              </a:rPr>
              <a:t>Meet Our Team</a:t>
            </a:r>
          </a:p>
        </p:txBody>
      </p:sp>
      <p:sp>
        <p:nvSpPr>
          <p:cNvPr name="TextBox 45" id="45"/>
          <p:cNvSpPr txBox="true"/>
          <p:nvPr/>
        </p:nvSpPr>
        <p:spPr>
          <a:xfrm rot="0">
            <a:off x="13138157" y="3874689"/>
            <a:ext cx="4096174" cy="256540"/>
          </a:xfrm>
          <a:prstGeom prst="rect">
            <a:avLst/>
          </a:prstGeom>
        </p:spPr>
        <p:txBody>
          <a:bodyPr anchor="t" rtlCol="false" tIns="0" lIns="0" bIns="0" rIns="0">
            <a:spAutoFit/>
          </a:bodyPr>
          <a:lstStyle/>
          <a:p>
            <a:pPr algn="ctr">
              <a:lnSpc>
                <a:spcPts val="1880"/>
              </a:lnSpc>
            </a:pPr>
            <a:r>
              <a:rPr lang="en-US" b="true" sz="2000" spc="-94">
                <a:solidFill>
                  <a:srgbClr val="424242"/>
                </a:solidFill>
                <a:latin typeface="Open Sauce Heavy"/>
                <a:ea typeface="Open Sauce Heavy"/>
                <a:cs typeface="Open Sauce Heavy"/>
                <a:sym typeface="Open Sauce Heavy"/>
              </a:rPr>
              <a:t>AMAN GIRI</a:t>
            </a:r>
          </a:p>
        </p:txBody>
      </p:sp>
      <p:sp>
        <p:nvSpPr>
          <p:cNvPr name="TextBox 46" id="46"/>
          <p:cNvSpPr txBox="true"/>
          <p:nvPr/>
        </p:nvSpPr>
        <p:spPr>
          <a:xfrm rot="0">
            <a:off x="8882141" y="3874689"/>
            <a:ext cx="4096174" cy="256540"/>
          </a:xfrm>
          <a:prstGeom prst="rect">
            <a:avLst/>
          </a:prstGeom>
        </p:spPr>
        <p:txBody>
          <a:bodyPr anchor="t" rtlCol="false" tIns="0" lIns="0" bIns="0" rIns="0">
            <a:spAutoFit/>
          </a:bodyPr>
          <a:lstStyle/>
          <a:p>
            <a:pPr algn="ctr">
              <a:lnSpc>
                <a:spcPts val="1880"/>
              </a:lnSpc>
            </a:pPr>
            <a:r>
              <a:rPr lang="en-US" b="true" sz="2000" spc="-94">
                <a:solidFill>
                  <a:srgbClr val="424242"/>
                </a:solidFill>
                <a:latin typeface="Open Sauce Heavy"/>
                <a:ea typeface="Open Sauce Heavy"/>
                <a:cs typeface="Open Sauce Heavy"/>
                <a:sym typeface="Open Sauce Heavy"/>
              </a:rPr>
              <a:t>DIYA N REDDY</a:t>
            </a:r>
          </a:p>
        </p:txBody>
      </p:sp>
      <p:sp>
        <p:nvSpPr>
          <p:cNvPr name="TextBox 47" id="47"/>
          <p:cNvSpPr txBox="true"/>
          <p:nvPr/>
        </p:nvSpPr>
        <p:spPr>
          <a:xfrm rot="0">
            <a:off x="13163126" y="8715652"/>
            <a:ext cx="4096174" cy="256540"/>
          </a:xfrm>
          <a:prstGeom prst="rect">
            <a:avLst/>
          </a:prstGeom>
        </p:spPr>
        <p:txBody>
          <a:bodyPr anchor="t" rtlCol="false" tIns="0" lIns="0" bIns="0" rIns="0">
            <a:spAutoFit/>
          </a:bodyPr>
          <a:lstStyle/>
          <a:p>
            <a:pPr algn="ctr">
              <a:lnSpc>
                <a:spcPts val="1880"/>
              </a:lnSpc>
            </a:pPr>
            <a:r>
              <a:rPr lang="en-US" b="true" sz="2000" spc="-94">
                <a:solidFill>
                  <a:srgbClr val="424242"/>
                </a:solidFill>
                <a:latin typeface="Open Sauce Heavy"/>
                <a:ea typeface="Open Sauce Heavy"/>
                <a:cs typeface="Open Sauce Heavy"/>
                <a:sym typeface="Open Sauce Heavy"/>
              </a:rPr>
              <a:t>VIHAN GAUR</a:t>
            </a:r>
          </a:p>
        </p:txBody>
      </p:sp>
      <p:sp>
        <p:nvSpPr>
          <p:cNvPr name="TextBox 48" id="48"/>
          <p:cNvSpPr txBox="true"/>
          <p:nvPr/>
        </p:nvSpPr>
        <p:spPr>
          <a:xfrm rot="0">
            <a:off x="8577341" y="8700347"/>
            <a:ext cx="4096174" cy="256540"/>
          </a:xfrm>
          <a:prstGeom prst="rect">
            <a:avLst/>
          </a:prstGeom>
        </p:spPr>
        <p:txBody>
          <a:bodyPr anchor="t" rtlCol="false" tIns="0" lIns="0" bIns="0" rIns="0">
            <a:spAutoFit/>
          </a:bodyPr>
          <a:lstStyle/>
          <a:p>
            <a:pPr algn="ctr">
              <a:lnSpc>
                <a:spcPts val="1880"/>
              </a:lnSpc>
            </a:pPr>
            <a:r>
              <a:rPr lang="en-US" b="true" sz="2000" spc="-94">
                <a:solidFill>
                  <a:srgbClr val="424242"/>
                </a:solidFill>
                <a:latin typeface="Open Sauce Heavy"/>
                <a:ea typeface="Open Sauce Heavy"/>
                <a:cs typeface="Open Sauce Heavy"/>
                <a:sym typeface="Open Sauce Heavy"/>
              </a:rPr>
              <a:t>FAIZAAN NASIR</a:t>
            </a:r>
          </a:p>
        </p:txBody>
      </p:sp>
      <p:sp>
        <p:nvSpPr>
          <p:cNvPr name="TextBox 49" id="49"/>
          <p:cNvSpPr txBox="true"/>
          <p:nvPr/>
        </p:nvSpPr>
        <p:spPr>
          <a:xfrm rot="0">
            <a:off x="3198862" y="8852430"/>
            <a:ext cx="4096174" cy="256540"/>
          </a:xfrm>
          <a:prstGeom prst="rect">
            <a:avLst/>
          </a:prstGeom>
        </p:spPr>
        <p:txBody>
          <a:bodyPr anchor="t" rtlCol="false" tIns="0" lIns="0" bIns="0" rIns="0">
            <a:spAutoFit/>
          </a:bodyPr>
          <a:lstStyle/>
          <a:p>
            <a:pPr algn="ctr">
              <a:lnSpc>
                <a:spcPts val="1880"/>
              </a:lnSpc>
            </a:pPr>
            <a:r>
              <a:rPr lang="en-US" b="true" sz="2000" spc="-94">
                <a:solidFill>
                  <a:srgbClr val="424242"/>
                </a:solidFill>
                <a:latin typeface="Open Sauce Heavy"/>
                <a:ea typeface="Open Sauce Heavy"/>
                <a:cs typeface="Open Sauce Heavy"/>
                <a:sym typeface="Open Sauce Heavy"/>
              </a:rPr>
              <a:t>JASMINE TANVIR ALAM</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D0D7DD"/>
        </a:solidFill>
      </p:bgPr>
    </p:bg>
    <p:spTree>
      <p:nvGrpSpPr>
        <p:cNvPr id="1" name=""/>
        <p:cNvGrpSpPr/>
        <p:nvPr/>
      </p:nvGrpSpPr>
      <p:grpSpPr>
        <a:xfrm>
          <a:off x="0" y="0"/>
          <a:ext cx="0" cy="0"/>
          <a:chOff x="0" y="0"/>
          <a:chExt cx="0" cy="0"/>
        </a:xfrm>
      </p:grpSpPr>
      <p:sp>
        <p:nvSpPr>
          <p:cNvPr name="Freeform 2" id="2"/>
          <p:cNvSpPr/>
          <p:nvPr/>
        </p:nvSpPr>
        <p:spPr>
          <a:xfrm flipH="false" flipV="false" rot="-10659522">
            <a:off x="-1466084" y="-1104127"/>
            <a:ext cx="6017764" cy="3599717"/>
          </a:xfrm>
          <a:custGeom>
            <a:avLst/>
            <a:gdLst/>
            <a:ahLst/>
            <a:cxnLst/>
            <a:rect r="r" b="b" t="t" l="l"/>
            <a:pathLst>
              <a:path h="3599717" w="6017764">
                <a:moveTo>
                  <a:pt x="0" y="0"/>
                </a:moveTo>
                <a:lnTo>
                  <a:pt x="6017764" y="0"/>
                </a:lnTo>
                <a:lnTo>
                  <a:pt x="6017764" y="3599717"/>
                </a:lnTo>
                <a:lnTo>
                  <a:pt x="0" y="3599717"/>
                </a:lnTo>
                <a:lnTo>
                  <a:pt x="0" y="0"/>
                </a:lnTo>
                <a:close/>
              </a:path>
            </a:pathLst>
          </a:custGeom>
          <a:blipFill>
            <a:blip r:embed="rId2">
              <a:alphaModFix amt="12000"/>
            </a:blip>
            <a:stretch>
              <a:fillRect l="0" t="0" r="0" b="0"/>
            </a:stretch>
          </a:blipFill>
        </p:spPr>
      </p:sp>
      <p:sp>
        <p:nvSpPr>
          <p:cNvPr name="Freeform 3" id="3"/>
          <p:cNvSpPr/>
          <p:nvPr/>
        </p:nvSpPr>
        <p:spPr>
          <a:xfrm flipH="false" flipV="false" rot="0">
            <a:off x="-924022" y="5188961"/>
            <a:ext cx="4716981" cy="6251420"/>
          </a:xfrm>
          <a:custGeom>
            <a:avLst/>
            <a:gdLst/>
            <a:ahLst/>
            <a:cxnLst/>
            <a:rect r="r" b="b" t="t" l="l"/>
            <a:pathLst>
              <a:path h="6251420" w="4716981">
                <a:moveTo>
                  <a:pt x="0" y="0"/>
                </a:moveTo>
                <a:lnTo>
                  <a:pt x="4716981" y="0"/>
                </a:lnTo>
                <a:lnTo>
                  <a:pt x="4716981" y="6251421"/>
                </a:lnTo>
                <a:lnTo>
                  <a:pt x="0" y="6251421"/>
                </a:lnTo>
                <a:lnTo>
                  <a:pt x="0" y="0"/>
                </a:lnTo>
                <a:close/>
              </a:path>
            </a:pathLst>
          </a:custGeom>
          <a:blipFill>
            <a:blip r:embed="rId3">
              <a:alphaModFix amt="2000"/>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028700" y="3692569"/>
            <a:ext cx="9672886" cy="6055133"/>
          </a:xfrm>
          <a:prstGeom prst="rect">
            <a:avLst/>
          </a:prstGeom>
        </p:spPr>
        <p:txBody>
          <a:bodyPr anchor="t" rtlCol="false" tIns="0" lIns="0" bIns="0" rIns="0">
            <a:spAutoFit/>
          </a:bodyPr>
          <a:lstStyle/>
          <a:p>
            <a:pPr algn="l">
              <a:lnSpc>
                <a:spcPts val="23095"/>
              </a:lnSpc>
            </a:pPr>
            <a:r>
              <a:rPr lang="en-US" sz="24569" spc="-1154" b="true">
                <a:solidFill>
                  <a:srgbClr val="424242"/>
                </a:solidFill>
                <a:latin typeface="Open Sauce Heavy"/>
                <a:ea typeface="Open Sauce Heavy"/>
                <a:cs typeface="Open Sauce Heavy"/>
                <a:sym typeface="Open Sauce Heavy"/>
              </a:rPr>
              <a:t>Thank You</a:t>
            </a:r>
          </a:p>
        </p:txBody>
      </p:sp>
      <p:sp>
        <p:nvSpPr>
          <p:cNvPr name="AutoShape 5" id="5"/>
          <p:cNvSpPr/>
          <p:nvPr/>
        </p:nvSpPr>
        <p:spPr>
          <a:xfrm>
            <a:off x="1045163" y="1480091"/>
            <a:ext cx="16214137" cy="0"/>
          </a:xfrm>
          <a:prstGeom prst="line">
            <a:avLst/>
          </a:prstGeom>
          <a:ln cap="flat" w="19050">
            <a:solidFill>
              <a:srgbClr val="424242"/>
            </a:solidFill>
            <a:prstDash val="solid"/>
            <a:headEnd type="none" len="sm" w="sm"/>
            <a:tailEnd type="none" len="sm" w="sm"/>
          </a:ln>
        </p:spPr>
      </p:sp>
      <p:sp>
        <p:nvSpPr>
          <p:cNvPr name="TextBox 6" id="6"/>
          <p:cNvSpPr txBox="true"/>
          <p:nvPr/>
        </p:nvSpPr>
        <p:spPr>
          <a:xfrm rot="0">
            <a:off x="7182212" y="7848014"/>
            <a:ext cx="3500324" cy="1239369"/>
          </a:xfrm>
          <a:prstGeom prst="rect">
            <a:avLst/>
          </a:prstGeom>
        </p:spPr>
        <p:txBody>
          <a:bodyPr anchor="t" rtlCol="false" tIns="0" lIns="0" bIns="0" rIns="0">
            <a:spAutoFit/>
          </a:bodyPr>
          <a:lstStyle/>
          <a:p>
            <a:pPr algn="l">
              <a:lnSpc>
                <a:spcPts val="4941"/>
              </a:lnSpc>
            </a:pPr>
            <a:r>
              <a:rPr lang="en-US" sz="3921" spc="-219">
                <a:solidFill>
                  <a:srgbClr val="424242"/>
                </a:solidFill>
                <a:latin typeface="Open Sauce Light"/>
                <a:ea typeface="Open Sauce Light"/>
                <a:cs typeface="Open Sauce Light"/>
                <a:sym typeface="Open Sauce Light"/>
              </a:rPr>
              <a:t>for your time and attention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DAHXp_JKLo0</dc:identifier>
  <dcterms:modified xsi:type="dcterms:W3CDTF">2011-08-01T06:04:30Z</dcterms:modified>
  <cp:revision>1</cp:revision>
  <dc:title>HVIG_Optimiser-CPRI</dc:title>
</cp:coreProperties>
</file>